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embeddedFontLst>
    <p:embeddedFont>
      <p:font typeface="Inter" panose="02000503000000020004" pitchFamily="2" charset="0"/>
      <p:regular r:id="rId19"/>
      <p:bold r:id="rId20"/>
    </p:embeddedFont>
    <p:embeddedFont>
      <p:font typeface="Inter ExtraBold" panose="02000903000000020004" pitchFamily="2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8F792D66-BF1D-4A49-FD91-6457B2F04587}">
          <p14:sldIdLst>
            <p14:sldId id="256"/>
            <p14:sldId id="257"/>
          </p14:sldIdLst>
        </p14:section>
        <p14:section name="Quem somos" id="{87FEDBF8-31DE-D83C-9A5F-29BD883D4305}">
          <p14:sldIdLst>
            <p14:sldId id="258"/>
            <p14:sldId id="259"/>
            <p14:sldId id="260"/>
          </p14:sldIdLst>
        </p14:section>
        <p14:section name="O workshop" id="{E97AC3C8-494E-0EC8-79EF-83FCF1D3C1C0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A proposta" id="{1763CF0A-8049-1C1A-04E7-BBA612597FF7}">
          <p14:sldIdLst>
            <p14:sldId id="268"/>
            <p14:sldId id="269"/>
            <p14:sldId id="270"/>
            <p14:sldId id="271"/>
          </p14:sldIdLst>
        </p14:section>
        <p14:section name="Fechamento" id="{DB145BA4-7079-8BDD-A611-EF28529837C0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737360"/>
            <a:ext cx="4206240" cy="15727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88000"/>
              </a:lnSpc>
              <a:buNone/>
              <a:defRPr lang="en-US" sz="6000" kern="0" spc="-150" dirty="0">
                <a:solidFill>
                  <a:schemeClr val="tx1"/>
                </a:solidFill>
              </a:defRPr>
            </a:lvl1pPr>
          </a:lstStyle>
          <a:p>
            <a:pPr marL="0" indent="0" algn="l">
              <a:lnSpc>
                <a:spcPct val="88000"/>
              </a:lnSpc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entore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672" y="4727448"/>
            <a:ext cx="1024128" cy="136246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kern="0" spc="-6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2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l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2/assets/panel_pi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"/>
            <a:ext cx="2880360" cy="4411980"/>
          </a:xfrm>
          <a:prstGeom prst="rect">
            <a:avLst/>
          </a:prstGeom>
        </p:spPr>
      </p:pic>
      <p:pic>
        <p:nvPicPr>
          <p:cNvPr id="3" name="Image 1" descr="Mentore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672" y="4727448"/>
            <a:ext cx="1024128" cy="136246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58368" y="1700784"/>
            <a:ext cx="2331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95000"/>
              </a:lnSpc>
              <a:buNone/>
              <a:defRPr lang="en-US" sz="2200" kern="0" spc="-50" dirty="0">
                <a:solidFill>
                  <a:schemeClr val="tx1"/>
                </a:solidFill>
              </a:defRPr>
            </a:lvl1pPr>
          </a:lstStyle>
          <a:p>
            <a:pPr marL="0" indent="0" algn="l">
              <a:lnSpc>
                <a:spcPct val="95000"/>
              </a:lnSpc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52044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2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entore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66928"/>
            <a:ext cx="1417320" cy="189281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371600"/>
            <a:ext cx="411480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00000"/>
              </a:lnSpc>
              <a:buNone/>
              <a:defRPr lang="en-US" sz="3000" kern="0" spc="-60" dirty="0">
                <a:solidFill>
                  <a:schemeClr val="tx1"/>
                </a:solidFill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2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inel-rad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365760"/>
            <a:ext cx="3886200" cy="4411980"/>
          </a:xfrm>
          <a:prstGeom prst="rect">
            <a:avLst/>
          </a:prstGeom>
        </p:spPr>
      </p:pic>
      <p:pic>
        <p:nvPicPr>
          <p:cNvPr id="3" name="radar-etapa-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4" name="radar-etapa-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5" name="radar-etapa-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6" name="radar-etapa-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7" name="radar-etapa-0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8" name="radar-etapa-0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9" name="radar-etapa-0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10" name="radar-etapa-0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11" name="radar-etapa-0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12" name="radar-etapa-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13" name="radar-etapa-1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14" name="radar-etapa-1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15" name="radar-etapa-1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16" name="radar-etapa-1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17" name="radar-etapa-1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18" name="radar-etapa-1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19" name="radar-etapa-1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20" name="radar-etapa-1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21" name="radar-etapa-1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22" name="radar-etapa-20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23" name="radar-etapa-21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24" name="radar-etapa-22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25" name="radar-etapa-23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26" name="radar-etapa-24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27" name="radar-etapa-25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28" name="radar-etapa-26" descr="Radar com todas as pontas na nota máxima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pic>
        <p:nvPicPr>
          <p:cNvPr id="29" name="logo-mentorei" descr="Mentorei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8640" y="603504"/>
            <a:ext cx="1417320" cy="189281"/>
          </a:xfrm>
          <a:prstGeom prst="rect">
            <a:avLst/>
          </a:prstGeom>
        </p:spPr>
      </p:pic>
      <p:sp>
        <p:nvSpPr>
          <p:cNvPr id="30" name="divisor-logos"/>
          <p:cNvSpPr/>
          <p:nvPr/>
        </p:nvSpPr>
        <p:spPr>
          <a:xfrm>
            <a:off x="2194560" y="457200"/>
            <a:ext cx="0" cy="475488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31" name="logo-cliente-espaco"/>
          <p:cNvSpPr/>
          <p:nvPr/>
        </p:nvSpPr>
        <p:spPr>
          <a:xfrm>
            <a:off x="2395728" y="420624"/>
            <a:ext cx="1600200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dash"/>
          </a:ln>
        </p:spPr>
      </p:sp>
      <p:sp>
        <p:nvSpPr>
          <p:cNvPr id="32" name="logo-cliente-texto"/>
          <p:cNvSpPr txBox="1"/>
          <p:nvPr/>
        </p:nvSpPr>
        <p:spPr>
          <a:xfrm>
            <a:off x="2395728" y="420624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60" dirty="0">
                <a:solidFill>
                  <a:schemeClr val="accent2"/>
                </a:solidFill>
              </a:rPr>
              <a:t>LOGO DO CLIENTE</a:t>
            </a:r>
            <a:endParaRPr lang="en-US" sz="750" dirty="0"/>
          </a:p>
          <a:p>
            <a:pPr marL="0" indent="0" algn="ctr">
              <a:buNone/>
            </a:pPr>
            <a:r>
              <a:rPr lang="en-US" sz="700" dirty="0">
                <a:solidFill>
                  <a:schemeClr val="accent2"/>
                </a:solidFill>
              </a:rPr>
              <a:t>insira aqui</a:t>
            </a:r>
            <a:endParaRPr lang="en-US" sz="750" dirty="0"/>
          </a:p>
        </p:txBody>
      </p:sp>
      <p:sp>
        <p:nvSpPr>
          <p:cNvPr id="33" name="selo-1"/>
          <p:cNvSpPr/>
          <p:nvPr/>
        </p:nvSpPr>
        <p:spPr>
          <a:xfrm>
            <a:off x="548640" y="1389888"/>
            <a:ext cx="222554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4" name="selo-texto-2"/>
          <p:cNvSpPr txBox="1"/>
          <p:nvPr/>
        </p:nvSpPr>
        <p:spPr>
          <a:xfrm>
            <a:off x="548640" y="1389888"/>
            <a:ext cx="2225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chemeClr val="tx1"/>
                </a:solidFill>
              </a:rPr>
              <a:t>PROPOSTA DE WORKSHOP</a:t>
            </a:r>
            <a:endParaRPr lang="en-US" sz="850" dirty="0"/>
          </a:p>
        </p:txBody>
      </p:sp>
      <p:sp>
        <p:nvSpPr>
          <p:cNvPr id="3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737360"/>
            <a:ext cx="42062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6000" kern="0" spc="-150" dirty="0">
                <a:solidFill>
                  <a:schemeClr val="tx1"/>
                </a:solidFill>
              </a:rPr>
              <a:t>Carteira</a:t>
            </a:r>
            <a:endParaRPr lang="en-US" sz="6000" dirty="0"/>
          </a:p>
          <a:p>
            <a:pPr marL="0" indent="0" algn="l">
              <a:lnSpc>
                <a:spcPct val="88000"/>
              </a:lnSpc>
              <a:buNone/>
            </a:pPr>
            <a:r>
              <a:rPr lang="en-US" sz="6000" kern="0" spc="-150" dirty="0">
                <a:solidFill>
                  <a:schemeClr val="tx1"/>
                </a:solidFill>
              </a:rPr>
              <a:t>Branca</a:t>
            </a:r>
            <a:endParaRPr lang="en-US" sz="6000" dirty="0"/>
          </a:p>
        </p:txBody>
      </p:sp>
      <p:sp>
        <p:nvSpPr>
          <p:cNvPr id="36" name="texto-3"/>
          <p:cNvSpPr txBox="1"/>
          <p:nvPr/>
        </p:nvSpPr>
        <p:spPr>
          <a:xfrm>
            <a:off x="548640" y="34015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b="1" dirty="0">
                <a:solidFill>
                  <a:schemeClr val="tx1"/>
                </a:solidFill>
              </a:rPr>
              <a:t>Relacionamento que gera confiança e negócios</a:t>
            </a:r>
            <a:endParaRPr lang="en-US" sz="1450" dirty="0"/>
          </a:p>
        </p:txBody>
      </p:sp>
      <p:sp>
        <p:nvSpPr>
          <p:cNvPr id="37" name="texto-4"/>
          <p:cNvSpPr txBox="1"/>
          <p:nvPr/>
        </p:nvSpPr>
        <p:spPr>
          <a:xfrm>
            <a:off x="548640" y="36758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chemeClr val="accent2"/>
                </a:solidFill>
              </a:rPr>
              <a:t>Especialização comercial para o Cooperado da saúde</a:t>
            </a:r>
            <a:endParaRPr lang="en-US" sz="1200" dirty="0"/>
          </a:p>
        </p:txBody>
      </p:sp>
      <p:pic>
        <p:nvPicPr>
          <p:cNvPr id="38" name="icone-5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48640" y="4187952"/>
            <a:ext cx="173736" cy="173736"/>
          </a:xfrm>
          <a:prstGeom prst="rect">
            <a:avLst/>
          </a:prstGeom>
        </p:spPr>
      </p:pic>
      <p:sp>
        <p:nvSpPr>
          <p:cNvPr id="39" name="texto-6"/>
          <p:cNvSpPr txBox="1"/>
          <p:nvPr/>
        </p:nvSpPr>
        <p:spPr>
          <a:xfrm>
            <a:off x="822960" y="41605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Sicoob Unic  •  Gerentes de carteira e relacionamento</a:t>
            </a:r>
            <a:endParaRPr lang="en-US" sz="1050" dirty="0"/>
          </a:p>
        </p:txBody>
      </p:sp>
      <p:pic>
        <p:nvPicPr>
          <p:cNvPr id="40" name="icone-7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48640" y="4462272"/>
            <a:ext cx="173736" cy="173736"/>
          </a:xfrm>
          <a:prstGeom prst="rect">
            <a:avLst/>
          </a:prstGeom>
        </p:spPr>
      </p:pic>
      <p:sp>
        <p:nvSpPr>
          <p:cNvPr id="41" name="texto-8"/>
          <p:cNvSpPr txBox="1"/>
          <p:nvPr/>
        </p:nvSpPr>
        <p:spPr>
          <a:xfrm>
            <a:off x="822960" y="44348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8 horas presenciais  •  4 pilares de desenvolvimento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82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63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44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25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06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87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68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49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13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211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92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373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454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35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616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697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778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859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94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21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102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183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264"/>
                            </p:stCondLst>
                            <p:childTnLst>
                              <p:par>
                                <p:cTn id="77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345"/>
                            </p:stCondLst>
                            <p:childTnLst>
                              <p:par>
                                <p:cTn id="80" presetID="1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-9"/>
          <p:cNvSpPr/>
          <p:nvPr/>
        </p:nvSpPr>
        <p:spPr>
          <a:xfrm>
            <a:off x="457200" y="379476"/>
            <a:ext cx="137160" cy="137160"/>
          </a:xfrm>
          <a:prstGeom prst="heptagon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" name="secao-10"/>
          <p:cNvSpPr txBox="1"/>
          <p:nvPr/>
        </p:nvSpPr>
        <p:spPr>
          <a:xfrm>
            <a:off x="676656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chemeClr val="accent2"/>
                </a:solidFill>
              </a:rPr>
              <a:t>PONTO DE PARTIDA</a:t>
            </a:r>
            <a:endParaRPr lang="en-US" sz="8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kern="0" spc="-60" dirty="0">
                <a:solidFill>
                  <a:schemeClr val="tx1"/>
                </a:solidFill>
              </a:rPr>
              <a:t>O que entendemos da sua </a:t>
            </a:r>
            <a:r>
              <a:rPr lang="en-US" sz="2600" kern="0" spc="-60" dirty="0">
                <a:solidFill>
                  <a:schemeClr val="tx1"/>
                </a:solidFill>
                <a:highlight>
                  <a:srgbClr val="C8F04A"/>
                </a:highlight>
              </a:rPr>
              <a:t>demanda</a:t>
            </a:r>
            <a:endParaRPr lang="en-US" sz="2600" dirty="0"/>
          </a:p>
        </p:txBody>
      </p:sp>
      <p:sp>
        <p:nvSpPr>
          <p:cNvPr id="5" name="cartao-11"/>
          <p:cNvSpPr/>
          <p:nvPr/>
        </p:nvSpPr>
        <p:spPr>
          <a:xfrm>
            <a:off x="457200" y="1325880"/>
            <a:ext cx="3977640" cy="1243584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/>
          <a:effectLst>
            <a:outerShdw blurRad="177800" dist="38100" dir="5400000" algn="bl" rotWithShape="0">
              <a:srgbClr val="0B1A1F">
                <a:alpha val="9000"/>
              </a:srgbClr>
            </a:outerShdw>
          </a:effectLst>
        </p:spPr>
      </p:sp>
      <p:sp>
        <p:nvSpPr>
          <p:cNvPr id="6" name="selo-12"/>
          <p:cNvSpPr/>
          <p:nvPr/>
        </p:nvSpPr>
        <p:spPr>
          <a:xfrm>
            <a:off x="685800" y="1554480"/>
            <a:ext cx="36576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" name="selo-texto-13"/>
          <p:cNvSpPr txBox="1"/>
          <p:nvPr/>
        </p:nvSpPr>
        <p:spPr>
          <a:xfrm>
            <a:off x="68580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o-14"/>
          <p:cNvSpPr txBox="1"/>
          <p:nvPr/>
        </p:nvSpPr>
        <p:spPr>
          <a:xfrm>
            <a:off x="1234440" y="1527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Fomentar a carteira branca</a:t>
            </a:r>
            <a:endParaRPr lang="en-US" sz="1400" dirty="0"/>
          </a:p>
        </p:txBody>
      </p:sp>
      <p:sp>
        <p:nvSpPr>
          <p:cNvPr id="9" name="texto-15"/>
          <p:cNvSpPr txBox="1"/>
          <p:nvPr/>
        </p:nvSpPr>
        <p:spPr>
          <a:xfrm>
            <a:off x="1234440" y="191109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Compreender médicos, dentistas e clínicas, hospitais e seus momentos de carreira e suas necessidades.</a:t>
            </a:r>
            <a:endParaRPr lang="en-US" sz="1050" dirty="0"/>
          </a:p>
        </p:txBody>
      </p:sp>
      <p:sp>
        <p:nvSpPr>
          <p:cNvPr id="10" name="cartao-16"/>
          <p:cNvSpPr/>
          <p:nvPr/>
        </p:nvSpPr>
        <p:spPr>
          <a:xfrm>
            <a:off x="4709160" y="1325880"/>
            <a:ext cx="3977640" cy="1243584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/>
          <a:effectLst>
            <a:outerShdw blurRad="177800" dist="38100" dir="5400000" algn="bl" rotWithShape="0">
              <a:srgbClr val="0B1A1F">
                <a:alpha val="9000"/>
              </a:srgbClr>
            </a:outerShdw>
          </a:effectLst>
        </p:spPr>
      </p:sp>
      <p:sp>
        <p:nvSpPr>
          <p:cNvPr id="11" name="selo-17"/>
          <p:cNvSpPr/>
          <p:nvPr/>
        </p:nvSpPr>
        <p:spPr>
          <a:xfrm>
            <a:off x="4937760" y="1554480"/>
            <a:ext cx="36576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2" name="selo-texto-18"/>
          <p:cNvSpPr txBox="1"/>
          <p:nvPr/>
        </p:nvSpPr>
        <p:spPr>
          <a:xfrm>
            <a:off x="493776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o-19"/>
          <p:cNvSpPr txBox="1"/>
          <p:nvPr/>
        </p:nvSpPr>
        <p:spPr>
          <a:xfrm>
            <a:off x="5486400" y="1527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Elevar o relacionamento</a:t>
            </a:r>
            <a:endParaRPr lang="en-US" sz="1400" dirty="0"/>
          </a:p>
        </p:txBody>
      </p:sp>
      <p:sp>
        <p:nvSpPr>
          <p:cNvPr id="14" name="texto-20"/>
          <p:cNvSpPr txBox="1"/>
          <p:nvPr/>
        </p:nvSpPr>
        <p:spPr>
          <a:xfrm>
            <a:off x="5486400" y="191109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Postura, linguagem e diplomacia para atender alta renda e dialogar com assertividade.</a:t>
            </a:r>
            <a:endParaRPr lang="en-US" sz="1050" dirty="0"/>
          </a:p>
        </p:txBody>
      </p:sp>
      <p:sp>
        <p:nvSpPr>
          <p:cNvPr id="15" name="cartao-21"/>
          <p:cNvSpPr/>
          <p:nvPr/>
        </p:nvSpPr>
        <p:spPr>
          <a:xfrm>
            <a:off x="457200" y="2752344"/>
            <a:ext cx="3977640" cy="1243584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/>
          <a:effectLst>
            <a:outerShdw blurRad="177800" dist="38100" dir="5400000" algn="bl" rotWithShape="0">
              <a:srgbClr val="0B1A1F">
                <a:alpha val="9000"/>
              </a:srgbClr>
            </a:outerShdw>
          </a:effectLst>
        </p:spPr>
      </p:sp>
      <p:sp>
        <p:nvSpPr>
          <p:cNvPr id="16" name="selo-22"/>
          <p:cNvSpPr/>
          <p:nvPr/>
        </p:nvSpPr>
        <p:spPr>
          <a:xfrm>
            <a:off x="685800" y="2980944"/>
            <a:ext cx="36576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7" name="selo-texto-23"/>
          <p:cNvSpPr txBox="1"/>
          <p:nvPr/>
        </p:nvSpPr>
        <p:spPr>
          <a:xfrm>
            <a:off x="685800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o-24"/>
          <p:cNvSpPr txBox="1"/>
          <p:nvPr/>
        </p:nvSpPr>
        <p:spPr>
          <a:xfrm>
            <a:off x="1234440" y="2953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Gerar negócios relevantes</a:t>
            </a:r>
            <a:endParaRPr lang="en-US" sz="1400" dirty="0"/>
          </a:p>
        </p:txBody>
      </p:sp>
      <p:sp>
        <p:nvSpPr>
          <p:cNvPr id="19" name="texto-25"/>
          <p:cNvSpPr txBox="1"/>
          <p:nvPr/>
        </p:nvSpPr>
        <p:spPr>
          <a:xfrm>
            <a:off x="1234440" y="33375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Revisitar o portfólio e adaptar a abordagem ao contexto de cada profissional da saúde.</a:t>
            </a:r>
            <a:endParaRPr lang="en-US" sz="1050" dirty="0"/>
          </a:p>
        </p:txBody>
      </p:sp>
      <p:sp>
        <p:nvSpPr>
          <p:cNvPr id="20" name="cartao-26"/>
          <p:cNvSpPr/>
          <p:nvPr/>
        </p:nvSpPr>
        <p:spPr>
          <a:xfrm>
            <a:off x="4709160" y="2752344"/>
            <a:ext cx="3977640" cy="1243584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/>
          <a:effectLst>
            <a:outerShdw blurRad="177800" dist="38100" dir="5400000" algn="bl" rotWithShape="0">
              <a:srgbClr val="0B1A1F">
                <a:alpha val="9000"/>
              </a:srgbClr>
            </a:outerShdw>
          </a:effectLst>
        </p:spPr>
      </p:sp>
      <p:sp>
        <p:nvSpPr>
          <p:cNvPr id="21" name="selo-27"/>
          <p:cNvSpPr/>
          <p:nvPr/>
        </p:nvSpPr>
        <p:spPr>
          <a:xfrm>
            <a:off x="4937760" y="2980944"/>
            <a:ext cx="36576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2" name="selo-texto-28"/>
          <p:cNvSpPr txBox="1"/>
          <p:nvPr/>
        </p:nvSpPr>
        <p:spPr>
          <a:xfrm>
            <a:off x="4937760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o-29"/>
          <p:cNvSpPr txBox="1"/>
          <p:nvPr/>
        </p:nvSpPr>
        <p:spPr>
          <a:xfrm>
            <a:off x="5486400" y="2953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Assumir a entrega</a:t>
            </a:r>
            <a:endParaRPr lang="en-US" sz="1400" dirty="0"/>
          </a:p>
        </p:txBody>
      </p:sp>
      <p:sp>
        <p:nvSpPr>
          <p:cNvPr id="24" name="texto-30"/>
          <p:cNvSpPr txBox="1"/>
          <p:nvPr/>
        </p:nvSpPr>
        <p:spPr>
          <a:xfrm>
            <a:off x="5486400" y="33375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Cumprir retornos, acompanhar demandas e transformar confiança em relacionamento contínuo e criar marca pessoal.</a:t>
            </a:r>
            <a:endParaRPr lang="en-US" sz="1050" dirty="0"/>
          </a:p>
        </p:txBody>
      </p:sp>
      <p:sp>
        <p:nvSpPr>
          <p:cNvPr id="25" name="selo-31"/>
          <p:cNvSpPr/>
          <p:nvPr/>
        </p:nvSpPr>
        <p:spPr>
          <a:xfrm>
            <a:off x="457200" y="4206240"/>
            <a:ext cx="4909566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26" name="selo-texto-32"/>
          <p:cNvSpPr txBox="1"/>
          <p:nvPr/>
        </p:nvSpPr>
        <p:spPr>
          <a:xfrm>
            <a:off x="457200" y="4206240"/>
            <a:ext cx="49095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Uma jornada aplicada à carteira real dos gerentes do Sicoob Unic.</a:t>
            </a:r>
            <a:endParaRPr lang="en-US" sz="10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2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-33"/>
          <p:cNvSpPr/>
          <p:nvPr/>
        </p:nvSpPr>
        <p:spPr>
          <a:xfrm>
            <a:off x="457200" y="379476"/>
            <a:ext cx="137160" cy="137160"/>
          </a:xfrm>
          <a:prstGeom prst="heptagon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" name="secao-34"/>
          <p:cNvSpPr txBox="1"/>
          <p:nvPr/>
        </p:nvSpPr>
        <p:spPr>
          <a:xfrm>
            <a:off x="676656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chemeClr val="accent2"/>
                </a:solidFill>
              </a:rPr>
              <a:t>QUEM SOMOS</a:t>
            </a:r>
            <a:endParaRPr lang="en-US" sz="8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kern="0" spc="-60" dirty="0">
                <a:solidFill>
                  <a:schemeClr val="tx1"/>
                </a:solidFill>
              </a:rPr>
              <a:t>Quem desenvolve o </a:t>
            </a:r>
            <a:r>
              <a:rPr lang="en-US" sz="2600" kern="0" spc="-60" dirty="0">
                <a:solidFill>
                  <a:schemeClr val="tx1"/>
                </a:solidFill>
                <a:highlight>
                  <a:srgbClr val="C8F04A"/>
                </a:highlight>
              </a:rPr>
              <a:t>workshop</a:t>
            </a:r>
            <a:endParaRPr lang="en-US" sz="2600" dirty="0"/>
          </a:p>
        </p:txBody>
      </p:sp>
      <p:sp>
        <p:nvSpPr>
          <p:cNvPr id="5" name="texto-35"/>
          <p:cNvSpPr txBox="1"/>
          <p:nvPr/>
        </p:nvSpPr>
        <p:spPr>
          <a:xfrm>
            <a:off x="457200" y="1298448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chemeClr val="tx2"/>
                </a:solidFill>
              </a:rPr>
              <a:t>Mais que treinamento e mentoria: experiência e sensibilidade para desenvolver talentos. Mais de 20 anos transformando pessoas, presentes nos principais sistemas cooperativos do país.</a:t>
            </a:r>
            <a:endParaRPr lang="en-US" sz="1150" dirty="0"/>
          </a:p>
        </p:txBody>
      </p:sp>
      <p:sp>
        <p:nvSpPr>
          <p:cNvPr id="6" name="cartao-36"/>
          <p:cNvSpPr/>
          <p:nvPr/>
        </p:nvSpPr>
        <p:spPr>
          <a:xfrm>
            <a:off x="457200" y="2103120"/>
            <a:ext cx="2286000" cy="868680"/>
          </a:xfrm>
          <a:prstGeom prst="roundRect">
            <a:avLst>
              <a:gd name="adj" fmla="val 16842"/>
            </a:avLst>
          </a:prstGeom>
          <a:solidFill>
            <a:schemeClr val="accent1"/>
          </a:solidFill>
          <a:ln/>
        </p:spPr>
      </p:sp>
      <p:sp>
        <p:nvSpPr>
          <p:cNvPr id="7" name="texto-37"/>
          <p:cNvSpPr txBox="1"/>
          <p:nvPr/>
        </p:nvSpPr>
        <p:spPr>
          <a:xfrm>
            <a:off x="658368" y="22128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600" kern="0" spc="-5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+10 mil</a:t>
            </a:r>
            <a:endParaRPr lang="en-US" sz="2600" dirty="0"/>
          </a:p>
        </p:txBody>
      </p:sp>
      <p:sp>
        <p:nvSpPr>
          <p:cNvPr id="8" name="texto-38"/>
          <p:cNvSpPr txBox="1"/>
          <p:nvPr/>
        </p:nvSpPr>
        <p:spPr>
          <a:xfrm>
            <a:off x="658368" y="261518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chemeClr val="tx1"/>
                </a:solidFill>
              </a:rPr>
              <a:t>profissionais treinados</a:t>
            </a:r>
            <a:endParaRPr lang="en-US" sz="950" dirty="0"/>
          </a:p>
        </p:txBody>
      </p:sp>
      <p:sp>
        <p:nvSpPr>
          <p:cNvPr id="9" name="cartao-39"/>
          <p:cNvSpPr/>
          <p:nvPr/>
        </p:nvSpPr>
        <p:spPr>
          <a:xfrm>
            <a:off x="2880360" y="2103120"/>
            <a:ext cx="2286000" cy="868680"/>
          </a:xfrm>
          <a:prstGeom prst="roundRect">
            <a:avLst>
              <a:gd name="adj" fmla="val 16842"/>
            </a:avLst>
          </a:prstGeom>
          <a:solidFill>
            <a:schemeClr val="bg1"/>
          </a:solidFill>
          <a:ln/>
          <a:effectLst>
            <a:outerShdw blurRad="177800" dist="38100" dir="5400000" algn="bl" rotWithShape="0">
              <a:srgbClr val="0B1A1F">
                <a:alpha val="9000"/>
              </a:srgbClr>
            </a:outerShdw>
          </a:effectLst>
        </p:spPr>
      </p:sp>
      <p:sp>
        <p:nvSpPr>
          <p:cNvPr id="10" name="texto-40"/>
          <p:cNvSpPr txBox="1"/>
          <p:nvPr/>
        </p:nvSpPr>
        <p:spPr>
          <a:xfrm>
            <a:off x="3081528" y="22128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600" kern="0" spc="-5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+600</a:t>
            </a:r>
            <a:endParaRPr lang="en-US" sz="2600" dirty="0"/>
          </a:p>
        </p:txBody>
      </p:sp>
      <p:sp>
        <p:nvSpPr>
          <p:cNvPr id="11" name="texto-41"/>
          <p:cNvSpPr txBox="1"/>
          <p:nvPr/>
        </p:nvSpPr>
        <p:spPr>
          <a:xfrm>
            <a:off x="3081528" y="261518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chemeClr val="tx2"/>
                </a:solidFill>
              </a:rPr>
              <a:t>mentorias realizadas</a:t>
            </a:r>
            <a:endParaRPr lang="en-US" sz="950" dirty="0"/>
          </a:p>
        </p:txBody>
      </p:sp>
      <p:sp>
        <p:nvSpPr>
          <p:cNvPr id="12" name="cartao-42"/>
          <p:cNvSpPr/>
          <p:nvPr/>
        </p:nvSpPr>
        <p:spPr>
          <a:xfrm>
            <a:off x="457200" y="3099816"/>
            <a:ext cx="2286000" cy="868680"/>
          </a:xfrm>
          <a:prstGeom prst="roundRect">
            <a:avLst>
              <a:gd name="adj" fmla="val 16842"/>
            </a:avLst>
          </a:prstGeom>
          <a:solidFill>
            <a:schemeClr val="bg1"/>
          </a:solidFill>
          <a:ln/>
          <a:effectLst>
            <a:outerShdw blurRad="177800" dist="38100" dir="5400000" algn="bl" rotWithShape="0">
              <a:srgbClr val="0B1A1F">
                <a:alpha val="9000"/>
              </a:srgbClr>
            </a:outerShdw>
          </a:effectLst>
        </p:spPr>
      </p:sp>
      <p:sp>
        <p:nvSpPr>
          <p:cNvPr id="13" name="texto-43"/>
          <p:cNvSpPr txBox="1"/>
          <p:nvPr/>
        </p:nvSpPr>
        <p:spPr>
          <a:xfrm>
            <a:off x="658368" y="320954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600" kern="0" spc="-5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4,9</a:t>
            </a:r>
            <a:endParaRPr lang="en-US" sz="2600" dirty="0"/>
          </a:p>
        </p:txBody>
      </p:sp>
      <p:sp>
        <p:nvSpPr>
          <p:cNvPr id="14" name="texto-44"/>
          <p:cNvSpPr txBox="1"/>
          <p:nvPr/>
        </p:nvSpPr>
        <p:spPr>
          <a:xfrm>
            <a:off x="658368" y="36118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chemeClr val="tx2"/>
                </a:solidFill>
              </a:rPr>
              <a:t>de avaliação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chemeClr val="tx2"/>
                </a:solidFill>
              </a:rPr>
              <a:t>(escala de 0 a 5)</a:t>
            </a:r>
            <a:endParaRPr lang="en-US" sz="950" dirty="0"/>
          </a:p>
        </p:txBody>
      </p:sp>
      <p:sp>
        <p:nvSpPr>
          <p:cNvPr id="15" name="cartao-45"/>
          <p:cNvSpPr/>
          <p:nvPr/>
        </p:nvSpPr>
        <p:spPr>
          <a:xfrm>
            <a:off x="2880360" y="3099816"/>
            <a:ext cx="2286000" cy="868680"/>
          </a:xfrm>
          <a:prstGeom prst="roundRect">
            <a:avLst>
              <a:gd name="adj" fmla="val 16842"/>
            </a:avLst>
          </a:prstGeom>
          <a:solidFill>
            <a:schemeClr val="bg1"/>
          </a:solidFill>
          <a:ln/>
          <a:effectLst>
            <a:outerShdw blurRad="177800" dist="38100" dir="5400000" algn="bl" rotWithShape="0">
              <a:srgbClr val="0B1A1F">
                <a:alpha val="9000"/>
              </a:srgbClr>
            </a:outerShdw>
          </a:effectLst>
        </p:spPr>
      </p:sp>
      <p:sp>
        <p:nvSpPr>
          <p:cNvPr id="16" name="texto-46"/>
          <p:cNvSpPr txBox="1"/>
          <p:nvPr/>
        </p:nvSpPr>
        <p:spPr>
          <a:xfrm>
            <a:off x="3081528" y="320954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600" kern="0" spc="-5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92%</a:t>
            </a:r>
            <a:endParaRPr lang="en-US" sz="2600" dirty="0"/>
          </a:p>
        </p:txBody>
      </p:sp>
      <p:sp>
        <p:nvSpPr>
          <p:cNvPr id="17" name="texto-47"/>
          <p:cNvSpPr txBox="1"/>
          <p:nvPr/>
        </p:nvSpPr>
        <p:spPr>
          <a:xfrm>
            <a:off x="3081528" y="36118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chemeClr val="tx2"/>
                </a:solidFill>
              </a:rPr>
              <a:t>de recontratação</a:t>
            </a:r>
            <a:endParaRPr lang="en-US" sz="950" dirty="0"/>
          </a:p>
        </p:txBody>
      </p:sp>
      <p:sp>
        <p:nvSpPr>
          <p:cNvPr id="18" name="texto-48"/>
          <p:cNvSpPr txBox="1"/>
          <p:nvPr/>
        </p:nvSpPr>
        <p:spPr>
          <a:xfrm>
            <a:off x="457200" y="4169664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chemeClr val="accent2"/>
                </a:solidFill>
              </a:rPr>
              <a:t>Programas customizados de soft e hard skills, mentorias individuais e em grupo, projetos de universidade corporativa — presencial, online ou híbrido.</a:t>
            </a:r>
            <a:endParaRPr lang="en-US" sz="1000" dirty="0"/>
          </a:p>
        </p:txBody>
      </p:sp>
      <p:pic>
        <p:nvPicPr>
          <p:cNvPr id="19" name="foto-quem" descr="Turma em treinamento Mentore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325880"/>
            <a:ext cx="3246120" cy="3246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2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-49"/>
          <p:cNvSpPr/>
          <p:nvPr/>
        </p:nvSpPr>
        <p:spPr>
          <a:xfrm>
            <a:off x="457200" y="379476"/>
            <a:ext cx="137160" cy="137160"/>
          </a:xfrm>
          <a:prstGeom prst="heptagon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" name="secao-50"/>
          <p:cNvSpPr txBox="1"/>
          <p:nvPr/>
        </p:nvSpPr>
        <p:spPr>
          <a:xfrm>
            <a:off x="676656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chemeClr val="accent2"/>
                </a:solidFill>
              </a:rPr>
              <a:t>QUEM SOMOS</a:t>
            </a:r>
            <a:endParaRPr lang="en-US" sz="8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kern="0" spc="-60" dirty="0">
                <a:solidFill>
                  <a:schemeClr val="tx1"/>
                </a:solidFill>
              </a:rPr>
              <a:t>Expertise em </a:t>
            </a:r>
            <a:r>
              <a:rPr lang="en-US" sz="2600" kern="0" spc="-60" dirty="0">
                <a:solidFill>
                  <a:schemeClr val="tx1"/>
                </a:solidFill>
                <a:highlight>
                  <a:srgbClr val="C8F04A"/>
                </a:highlight>
              </a:rPr>
              <a:t>cooperativismo</a:t>
            </a:r>
            <a:endParaRPr lang="en-US" sz="2600" dirty="0"/>
          </a:p>
        </p:txBody>
      </p:sp>
      <p:pic>
        <p:nvPicPr>
          <p:cNvPr id="5" name="foto-experti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2606040" cy="3200400"/>
          </a:xfrm>
          <a:prstGeom prst="rect">
            <a:avLst/>
          </a:prstGeom>
        </p:spPr>
      </p:pic>
      <p:sp>
        <p:nvSpPr>
          <p:cNvPr id="6" name="icone-fundo-51"/>
          <p:cNvSpPr/>
          <p:nvPr/>
        </p:nvSpPr>
        <p:spPr>
          <a:xfrm>
            <a:off x="3383280" y="146304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e-5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1572768"/>
            <a:ext cx="219456" cy="219456"/>
          </a:xfrm>
          <a:prstGeom prst="rect">
            <a:avLst/>
          </a:prstGeom>
        </p:spPr>
      </p:pic>
      <p:sp>
        <p:nvSpPr>
          <p:cNvPr id="8" name="texto-53"/>
          <p:cNvSpPr txBox="1"/>
          <p:nvPr/>
        </p:nvSpPr>
        <p:spPr>
          <a:xfrm>
            <a:off x="4023360" y="14173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Visão de negócio da cooperativa</a:t>
            </a:r>
            <a:endParaRPr lang="en-US" sz="1300" dirty="0"/>
          </a:p>
        </p:txBody>
      </p:sp>
      <p:sp>
        <p:nvSpPr>
          <p:cNvPr id="9" name="texto-54"/>
          <p:cNvSpPr txBox="1"/>
          <p:nvPr/>
        </p:nvSpPr>
        <p:spPr>
          <a:xfrm>
            <a:off x="4023360" y="17099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Experiência em cooperativas de crédito, conectando relacionamento, gestão de carteira, negociação e qualidade dos negócios.</a:t>
            </a:r>
            <a:endParaRPr lang="en-US" sz="1050" dirty="0"/>
          </a:p>
        </p:txBody>
      </p:sp>
      <p:sp>
        <p:nvSpPr>
          <p:cNvPr id="10" name="divisor-55"/>
          <p:cNvSpPr/>
          <p:nvPr/>
        </p:nvSpPr>
        <p:spPr>
          <a:xfrm>
            <a:off x="3383280" y="2125980"/>
            <a:ext cx="53035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1" name="icone-fundo-56"/>
          <p:cNvSpPr/>
          <p:nvPr/>
        </p:nvSpPr>
        <p:spPr>
          <a:xfrm>
            <a:off x="3383280" y="226314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e-5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2372868"/>
            <a:ext cx="219456" cy="219456"/>
          </a:xfrm>
          <a:prstGeom prst="rect">
            <a:avLst/>
          </a:prstGeom>
        </p:spPr>
      </p:pic>
      <p:sp>
        <p:nvSpPr>
          <p:cNvPr id="13" name="texto-58"/>
          <p:cNvSpPr txBox="1"/>
          <p:nvPr/>
        </p:nvSpPr>
        <p:spPr>
          <a:xfrm>
            <a:off x="4023360" y="22174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Comunicação que constrói confiança</a:t>
            </a:r>
            <a:endParaRPr lang="en-US" sz="1300" dirty="0"/>
          </a:p>
        </p:txBody>
      </p:sp>
      <p:sp>
        <p:nvSpPr>
          <p:cNvPr id="14" name="texto-59"/>
          <p:cNvSpPr txBox="1"/>
          <p:nvPr/>
        </p:nvSpPr>
        <p:spPr>
          <a:xfrm>
            <a:off x="4023360" y="25100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Postura, linguagem e diplomacia aplicadas às conversas com o cooperado e com as pessoas que participam de sua rotina.</a:t>
            </a:r>
            <a:endParaRPr lang="en-US" sz="1050" dirty="0"/>
          </a:p>
        </p:txBody>
      </p:sp>
      <p:sp>
        <p:nvSpPr>
          <p:cNvPr id="15" name="divisor-60"/>
          <p:cNvSpPr/>
          <p:nvPr/>
        </p:nvSpPr>
        <p:spPr>
          <a:xfrm>
            <a:off x="3383280" y="2926080"/>
            <a:ext cx="53035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6" name="icone-fundo-61"/>
          <p:cNvSpPr/>
          <p:nvPr/>
        </p:nvSpPr>
        <p:spPr>
          <a:xfrm>
            <a:off x="3383280" y="306324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e-6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008" y="3172968"/>
            <a:ext cx="219456" cy="219456"/>
          </a:xfrm>
          <a:prstGeom prst="rect">
            <a:avLst/>
          </a:prstGeom>
        </p:spPr>
      </p:pic>
      <p:sp>
        <p:nvSpPr>
          <p:cNvPr id="18" name="texto-63"/>
          <p:cNvSpPr txBox="1"/>
          <p:nvPr/>
        </p:nvSpPr>
        <p:spPr>
          <a:xfrm>
            <a:off x="4023360" y="30175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Integração entre comportamento e resultado</a:t>
            </a:r>
            <a:endParaRPr lang="en-US" sz="1300" dirty="0"/>
          </a:p>
        </p:txBody>
      </p:sp>
      <p:sp>
        <p:nvSpPr>
          <p:cNvPr id="19" name="texto-64"/>
          <p:cNvSpPr txBox="1"/>
          <p:nvPr/>
        </p:nvSpPr>
        <p:spPr>
          <a:xfrm>
            <a:off x="4023360" y="33101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O preparo do gerente se traduz em diagnóstico, proposta de valor, acompanhamento e cumprimento dos combinados.</a:t>
            </a:r>
            <a:endParaRPr lang="en-US" sz="1050" dirty="0"/>
          </a:p>
        </p:txBody>
      </p:sp>
      <p:sp>
        <p:nvSpPr>
          <p:cNvPr id="20" name="divisor-65"/>
          <p:cNvSpPr/>
          <p:nvPr/>
        </p:nvSpPr>
        <p:spPr>
          <a:xfrm>
            <a:off x="3383280" y="3726180"/>
            <a:ext cx="53035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1" name="icone-fundo-66"/>
          <p:cNvSpPr/>
          <p:nvPr/>
        </p:nvSpPr>
        <p:spPr>
          <a:xfrm>
            <a:off x="3383280" y="386334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cone-6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3008" y="3973068"/>
            <a:ext cx="219456" cy="219456"/>
          </a:xfrm>
          <a:prstGeom prst="rect">
            <a:avLst/>
          </a:prstGeom>
        </p:spPr>
      </p:pic>
      <p:sp>
        <p:nvSpPr>
          <p:cNvPr id="23" name="texto-68"/>
          <p:cNvSpPr txBox="1"/>
          <p:nvPr/>
        </p:nvSpPr>
        <p:spPr>
          <a:xfrm>
            <a:off x="4023360" y="38176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Conteúdo construído para o Sicoob Unic</a:t>
            </a:r>
            <a:endParaRPr lang="en-US" sz="1300" dirty="0"/>
          </a:p>
        </p:txBody>
      </p:sp>
      <p:sp>
        <p:nvSpPr>
          <p:cNvPr id="24" name="texto-69"/>
          <p:cNvSpPr txBox="1"/>
          <p:nvPr/>
        </p:nvSpPr>
        <p:spPr>
          <a:xfrm>
            <a:off x="4023360" y="41102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Casos, abordagens e ferramentas ajustados ao perfil da carteira branca, ao portfólio e aos processos da cooperativa.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2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-70"/>
          <p:cNvSpPr/>
          <p:nvPr/>
        </p:nvSpPr>
        <p:spPr>
          <a:xfrm>
            <a:off x="457200" y="379476"/>
            <a:ext cx="137160" cy="137160"/>
          </a:xfrm>
          <a:prstGeom prst="heptagon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" name="secao-71"/>
          <p:cNvSpPr txBox="1"/>
          <p:nvPr/>
        </p:nvSpPr>
        <p:spPr>
          <a:xfrm>
            <a:off x="676656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chemeClr val="accent2"/>
                </a:solidFill>
              </a:rPr>
              <a:t>QUEM SOMOS</a:t>
            </a:r>
            <a:endParaRPr lang="en-US" sz="8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kern="0" spc="-60" dirty="0">
                <a:solidFill>
                  <a:schemeClr val="tx1"/>
                </a:solidFill>
              </a:rPr>
              <a:t>As sócias da </a:t>
            </a:r>
            <a:r>
              <a:rPr lang="en-US" sz="2600" kern="0" spc="-60" dirty="0">
                <a:solidFill>
                  <a:schemeClr val="tx1"/>
                </a:solidFill>
                <a:highlight>
                  <a:srgbClr val="C8F04A"/>
                </a:highlight>
              </a:rPr>
              <a:t>Mentorei</a:t>
            </a:r>
            <a:endParaRPr lang="en-US" sz="2600" dirty="0"/>
          </a:p>
        </p:txBody>
      </p:sp>
      <p:sp>
        <p:nvSpPr>
          <p:cNvPr id="5" name="cartao-72"/>
          <p:cNvSpPr/>
          <p:nvPr/>
        </p:nvSpPr>
        <p:spPr>
          <a:xfrm>
            <a:off x="457200" y="1280160"/>
            <a:ext cx="2560320" cy="2999232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blurRad="177800" dist="38100" dir="5400000" algn="bl" rotWithShape="0">
              <a:srgbClr val="0B1A1F">
                <a:alpha val="9000"/>
              </a:srgbClr>
            </a:outerShdw>
          </a:effectLst>
        </p:spPr>
      </p:sp>
      <p:sp>
        <p:nvSpPr>
          <p:cNvPr id="6" name="avatar-73"/>
          <p:cNvSpPr/>
          <p:nvPr/>
        </p:nvSpPr>
        <p:spPr>
          <a:xfrm>
            <a:off x="685800" y="148132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iniciais-74"/>
          <p:cNvSpPr txBox="1"/>
          <p:nvPr/>
        </p:nvSpPr>
        <p:spPr>
          <a:xfrm>
            <a:off x="685800" y="1481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CK</a:t>
            </a:r>
            <a:endParaRPr lang="en-US" sz="1500" dirty="0"/>
          </a:p>
        </p:txBody>
      </p:sp>
      <p:sp>
        <p:nvSpPr>
          <p:cNvPr id="8" name="texto-75"/>
          <p:cNvSpPr txBox="1"/>
          <p:nvPr/>
        </p:nvSpPr>
        <p:spPr>
          <a:xfrm>
            <a:off x="1463040" y="148132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35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Claudia</a:t>
            </a:r>
            <a:endParaRPr lang="en-US" sz="13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35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Kreniczki</a:t>
            </a:r>
            <a:endParaRPr lang="en-US" sz="1350" dirty="0"/>
          </a:p>
        </p:txBody>
      </p:sp>
      <p:sp>
        <p:nvSpPr>
          <p:cNvPr id="9" name="texto-76"/>
          <p:cNvSpPr txBox="1"/>
          <p:nvPr/>
        </p:nvSpPr>
        <p:spPr>
          <a:xfrm>
            <a:off x="685800" y="223113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chemeClr val="tx1"/>
                </a:solidFill>
              </a:rPr>
              <a:t>Gente, cultura e liderança</a:t>
            </a:r>
            <a:endParaRPr lang="en-US" sz="950" dirty="0"/>
          </a:p>
        </p:txBody>
      </p:sp>
      <p:sp>
        <p:nvSpPr>
          <p:cNvPr id="10" name="divisor-77"/>
          <p:cNvSpPr/>
          <p:nvPr/>
        </p:nvSpPr>
        <p:spPr>
          <a:xfrm>
            <a:off x="685800" y="2523744"/>
            <a:ext cx="21031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1" name="texto-78"/>
          <p:cNvSpPr txBox="1"/>
          <p:nvPr/>
        </p:nvSpPr>
        <p:spPr>
          <a:xfrm>
            <a:off x="685800" y="2624328"/>
            <a:ext cx="21031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950" dirty="0">
                <a:solidFill>
                  <a:schemeClr val="tx2"/>
                </a:solidFill>
              </a:rPr>
              <a:t>MBA Executivo pela Fundação Dom Cabral e mais de 24 anos em Recursos Humanos, com posições de liderança executiva em grandes corporações do mercado financeiro. Premiada por conduzir transformações reais em times e organizações. Especialista em criar experiências de aprendizagem que engajam e mobilizam.</a:t>
            </a:r>
            <a:endParaRPr lang="en-US" sz="950" dirty="0"/>
          </a:p>
        </p:txBody>
      </p:sp>
      <p:sp>
        <p:nvSpPr>
          <p:cNvPr id="12" name="cartao-79"/>
          <p:cNvSpPr/>
          <p:nvPr/>
        </p:nvSpPr>
        <p:spPr>
          <a:xfrm>
            <a:off x="3291840" y="1280160"/>
            <a:ext cx="2560320" cy="2999232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blurRad="177800" dist="38100" dir="5400000" algn="bl" rotWithShape="0">
              <a:srgbClr val="0B1A1F">
                <a:alpha val="9000"/>
              </a:srgbClr>
            </a:outerShdw>
          </a:effectLst>
        </p:spPr>
      </p:sp>
      <p:sp>
        <p:nvSpPr>
          <p:cNvPr id="13" name="avatar-80"/>
          <p:cNvSpPr/>
          <p:nvPr/>
        </p:nvSpPr>
        <p:spPr>
          <a:xfrm>
            <a:off x="3520440" y="148132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iniciais-81"/>
          <p:cNvSpPr txBox="1"/>
          <p:nvPr/>
        </p:nvSpPr>
        <p:spPr>
          <a:xfrm>
            <a:off x="3520440" y="1481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JF</a:t>
            </a:r>
            <a:endParaRPr lang="en-US" sz="1500" dirty="0"/>
          </a:p>
        </p:txBody>
      </p:sp>
      <p:sp>
        <p:nvSpPr>
          <p:cNvPr id="15" name="texto-82"/>
          <p:cNvSpPr txBox="1"/>
          <p:nvPr/>
        </p:nvSpPr>
        <p:spPr>
          <a:xfrm>
            <a:off x="4297680" y="148132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35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Juliana</a:t>
            </a:r>
            <a:endParaRPr lang="en-US" sz="13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35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Foresti</a:t>
            </a:r>
            <a:endParaRPr lang="en-US" sz="1350" dirty="0"/>
          </a:p>
        </p:txBody>
      </p:sp>
      <p:sp>
        <p:nvSpPr>
          <p:cNvPr id="16" name="texto-83"/>
          <p:cNvSpPr txBox="1"/>
          <p:nvPr/>
        </p:nvSpPr>
        <p:spPr>
          <a:xfrm>
            <a:off x="3520440" y="223113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chemeClr val="tx1"/>
                </a:solidFill>
              </a:rPr>
              <a:t>Negócios, comunicação e imagem</a:t>
            </a:r>
            <a:endParaRPr lang="en-US" sz="950" dirty="0"/>
          </a:p>
        </p:txBody>
      </p:sp>
      <p:sp>
        <p:nvSpPr>
          <p:cNvPr id="17" name="divisor-84"/>
          <p:cNvSpPr/>
          <p:nvPr/>
        </p:nvSpPr>
        <p:spPr>
          <a:xfrm>
            <a:off x="3520440" y="2523744"/>
            <a:ext cx="21031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8" name="texto-85"/>
          <p:cNvSpPr txBox="1"/>
          <p:nvPr/>
        </p:nvSpPr>
        <p:spPr>
          <a:xfrm>
            <a:off x="3520440" y="2624328"/>
            <a:ext cx="21031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950" dirty="0">
                <a:solidFill>
                  <a:schemeClr val="tx2"/>
                </a:solidFill>
              </a:rPr>
              <a:t>Trajetória reconhecida na expansão de grandes redes no Brasil e nos Estados Unidos. Professora de Comunicação e Negociação no Instituto de Economia da Unicamp. Provoca reflexões profundas e incentiva a ação, com presença que inspira resultados.</a:t>
            </a:r>
            <a:endParaRPr lang="en-US" sz="950" dirty="0"/>
          </a:p>
        </p:txBody>
      </p:sp>
      <p:sp>
        <p:nvSpPr>
          <p:cNvPr id="19" name="cartao-86"/>
          <p:cNvSpPr/>
          <p:nvPr/>
        </p:nvSpPr>
        <p:spPr>
          <a:xfrm>
            <a:off x="6126480" y="1280160"/>
            <a:ext cx="2560320" cy="2999232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blurRad="177800" dist="38100" dir="5400000" algn="bl" rotWithShape="0">
              <a:srgbClr val="0B1A1F">
                <a:alpha val="9000"/>
              </a:srgbClr>
            </a:outerShdw>
          </a:effectLst>
        </p:spPr>
      </p:sp>
      <p:sp>
        <p:nvSpPr>
          <p:cNvPr id="20" name="avatar-87"/>
          <p:cNvSpPr/>
          <p:nvPr/>
        </p:nvSpPr>
        <p:spPr>
          <a:xfrm>
            <a:off x="6355080" y="148132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iniciais-88"/>
          <p:cNvSpPr txBox="1"/>
          <p:nvPr/>
        </p:nvSpPr>
        <p:spPr>
          <a:xfrm>
            <a:off x="6355080" y="1481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VS</a:t>
            </a:r>
            <a:endParaRPr lang="en-US" sz="1500" dirty="0"/>
          </a:p>
        </p:txBody>
      </p:sp>
      <p:sp>
        <p:nvSpPr>
          <p:cNvPr id="22" name="texto-89"/>
          <p:cNvSpPr txBox="1"/>
          <p:nvPr/>
        </p:nvSpPr>
        <p:spPr>
          <a:xfrm>
            <a:off x="7132320" y="148132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35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Viviane</a:t>
            </a:r>
            <a:endParaRPr lang="en-US" sz="13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35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Sotoriva</a:t>
            </a:r>
            <a:endParaRPr lang="en-US" sz="1350" dirty="0"/>
          </a:p>
        </p:txBody>
      </p:sp>
      <p:sp>
        <p:nvSpPr>
          <p:cNvPr id="23" name="texto-90"/>
          <p:cNvSpPr txBox="1"/>
          <p:nvPr/>
        </p:nvSpPr>
        <p:spPr>
          <a:xfrm>
            <a:off x="6355080" y="223113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chemeClr val="tx1"/>
                </a:solidFill>
              </a:rPr>
              <a:t>Finanças e cooperativismo</a:t>
            </a:r>
            <a:endParaRPr lang="en-US" sz="950" dirty="0"/>
          </a:p>
        </p:txBody>
      </p:sp>
      <p:sp>
        <p:nvSpPr>
          <p:cNvPr id="24" name="divisor-91"/>
          <p:cNvSpPr/>
          <p:nvPr/>
        </p:nvSpPr>
        <p:spPr>
          <a:xfrm>
            <a:off x="6355080" y="2523744"/>
            <a:ext cx="21031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5" name="texto-92"/>
          <p:cNvSpPr txBox="1"/>
          <p:nvPr/>
        </p:nvSpPr>
        <p:spPr>
          <a:xfrm>
            <a:off x="6355080" y="2624328"/>
            <a:ext cx="21031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950" dirty="0">
                <a:solidFill>
                  <a:schemeClr val="tx2"/>
                </a:solidFill>
              </a:rPr>
              <a:t>Especialista em Gestão Financeira pela FGV e mestre em Gestão de Cooperativas pela PUC-PR, com imersões na América do Sul e Europa. Mais de 20 anos em cooperativas de crédito, com visão global do mercado cooperativista.</a:t>
            </a:r>
            <a:endParaRPr lang="en-US" sz="950" dirty="0"/>
          </a:p>
        </p:txBody>
      </p:sp>
      <p:sp>
        <p:nvSpPr>
          <p:cNvPr id="26" name="texto-93"/>
          <p:cNvSpPr txBox="1"/>
          <p:nvPr/>
        </p:nvSpPr>
        <p:spPr>
          <a:xfrm>
            <a:off x="457200" y="43891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chemeClr val="accent2"/>
                </a:solidFill>
              </a:rPr>
              <a:t>Experiência complementar em pessoas, negócios e cooperativismo. Condução a definir.</a:t>
            </a:r>
            <a:endParaRPr lang="en-US" sz="9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2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-94"/>
          <p:cNvSpPr/>
          <p:nvPr/>
        </p:nvSpPr>
        <p:spPr>
          <a:xfrm>
            <a:off x="457200" y="379476"/>
            <a:ext cx="137160" cy="137160"/>
          </a:xfrm>
          <a:prstGeom prst="heptagon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" name="secao-95"/>
          <p:cNvSpPr txBox="1"/>
          <p:nvPr/>
        </p:nvSpPr>
        <p:spPr>
          <a:xfrm>
            <a:off x="676656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chemeClr val="accent2"/>
                </a:solidFill>
              </a:rPr>
              <a:t>O WORKSHOP</a:t>
            </a:r>
            <a:endParaRPr lang="en-US" sz="8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kern="0" spc="-60" dirty="0">
                <a:solidFill>
                  <a:schemeClr val="tx1"/>
                </a:solidFill>
              </a:rPr>
              <a:t>O workshop em </a:t>
            </a:r>
            <a:r>
              <a:rPr lang="en-US" sz="2600" kern="0" spc="-60" dirty="0">
                <a:solidFill>
                  <a:schemeClr val="tx1"/>
                </a:solidFill>
                <a:highlight>
                  <a:srgbClr val="C8F04A"/>
                </a:highlight>
              </a:rPr>
              <a:t>quatro pilares</a:t>
            </a:r>
            <a:endParaRPr lang="en-US" sz="2600" dirty="0"/>
          </a:p>
        </p:txBody>
      </p:sp>
      <p:sp>
        <p:nvSpPr>
          <p:cNvPr id="5" name="cartao-96"/>
          <p:cNvSpPr/>
          <p:nvPr/>
        </p:nvSpPr>
        <p:spPr>
          <a:xfrm>
            <a:off x="457200" y="1371600"/>
            <a:ext cx="1906524" cy="2743200"/>
          </a:xfrm>
          <a:prstGeom prst="roundRect">
            <a:avLst>
              <a:gd name="adj" fmla="val 7674"/>
            </a:avLst>
          </a:prstGeom>
          <a:solidFill>
            <a:schemeClr val="bg1"/>
          </a:solidFill>
          <a:ln/>
          <a:effectLst>
            <a:outerShdw blurRad="177800" dist="38100" dir="5400000" algn="bl" rotWithShape="0">
              <a:srgbClr val="0B1A1F">
                <a:alpha val="9000"/>
              </a:srgbClr>
            </a:outerShdw>
          </a:effectLst>
        </p:spPr>
      </p:sp>
      <p:sp>
        <p:nvSpPr>
          <p:cNvPr id="6" name="texto-97"/>
          <p:cNvSpPr txBox="1"/>
          <p:nvPr/>
        </p:nvSpPr>
        <p:spPr>
          <a:xfrm>
            <a:off x="676656" y="153619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400" kern="0" spc="-1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icone-fundo-98"/>
          <p:cNvSpPr/>
          <p:nvPr/>
        </p:nvSpPr>
        <p:spPr>
          <a:xfrm>
            <a:off x="1723644" y="159105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e-99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96212"/>
            <a:ext cx="210312" cy="210312"/>
          </a:xfrm>
          <a:prstGeom prst="rect">
            <a:avLst/>
          </a:prstGeom>
        </p:spPr>
      </p:pic>
      <p:sp>
        <p:nvSpPr>
          <p:cNvPr id="9" name="texto-100"/>
          <p:cNvSpPr txBox="1"/>
          <p:nvPr/>
        </p:nvSpPr>
        <p:spPr>
          <a:xfrm>
            <a:off x="676656" y="2286000"/>
            <a:ext cx="14950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Cooperado e carteira</a:t>
            </a:r>
            <a:endParaRPr lang="en-US" sz="1400" dirty="0"/>
          </a:p>
        </p:txBody>
      </p:sp>
      <p:sp>
        <p:nvSpPr>
          <p:cNvPr id="10" name="texto-101"/>
          <p:cNvSpPr txBox="1"/>
          <p:nvPr/>
        </p:nvSpPr>
        <p:spPr>
          <a:xfrm>
            <a:off x="676656" y="2871216"/>
            <a:ext cx="14950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Conhecer para ser relevante</a:t>
            </a:r>
            <a:endParaRPr lang="en-US" sz="1050" dirty="0"/>
          </a:p>
        </p:txBody>
      </p:sp>
      <p:sp>
        <p:nvSpPr>
          <p:cNvPr id="11" name="selo-102"/>
          <p:cNvSpPr/>
          <p:nvPr/>
        </p:nvSpPr>
        <p:spPr>
          <a:xfrm>
            <a:off x="676656" y="3639312"/>
            <a:ext cx="100584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12" name="selo-texto-103"/>
          <p:cNvSpPr txBox="1"/>
          <p:nvPr/>
        </p:nvSpPr>
        <p:spPr>
          <a:xfrm>
            <a:off x="676656" y="3639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" dirty="0">
                <a:solidFill>
                  <a:schemeClr val="tx1"/>
                </a:solidFill>
              </a:rPr>
              <a:t>Manhã / 2h</a:t>
            </a:r>
            <a:endParaRPr lang="en-US" sz="900" dirty="0"/>
          </a:p>
        </p:txBody>
      </p:sp>
      <p:sp>
        <p:nvSpPr>
          <p:cNvPr id="13" name="cartao-104"/>
          <p:cNvSpPr/>
          <p:nvPr/>
        </p:nvSpPr>
        <p:spPr>
          <a:xfrm>
            <a:off x="2564892" y="1371600"/>
            <a:ext cx="1906524" cy="2743200"/>
          </a:xfrm>
          <a:prstGeom prst="roundRect">
            <a:avLst>
              <a:gd name="adj" fmla="val 7674"/>
            </a:avLst>
          </a:prstGeom>
          <a:solidFill>
            <a:schemeClr val="bg1"/>
          </a:solidFill>
          <a:ln/>
          <a:effectLst>
            <a:outerShdw blurRad="177800" dist="38100" dir="5400000" algn="bl" rotWithShape="0">
              <a:srgbClr val="0B1A1F">
                <a:alpha val="9000"/>
              </a:srgbClr>
            </a:outerShdw>
          </a:effectLst>
        </p:spPr>
      </p:sp>
      <p:sp>
        <p:nvSpPr>
          <p:cNvPr id="14" name="texto-105"/>
          <p:cNvSpPr txBox="1"/>
          <p:nvPr/>
        </p:nvSpPr>
        <p:spPr>
          <a:xfrm>
            <a:off x="2784348" y="153619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400" kern="0" spc="-1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3400" dirty="0"/>
          </a:p>
        </p:txBody>
      </p:sp>
      <p:sp>
        <p:nvSpPr>
          <p:cNvPr id="15" name="icone-fundo-106"/>
          <p:cNvSpPr/>
          <p:nvPr/>
        </p:nvSpPr>
        <p:spPr>
          <a:xfrm>
            <a:off x="3831336" y="159105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e-10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492" y="1696212"/>
            <a:ext cx="210312" cy="210312"/>
          </a:xfrm>
          <a:prstGeom prst="rect">
            <a:avLst/>
          </a:prstGeom>
        </p:spPr>
      </p:pic>
      <p:sp>
        <p:nvSpPr>
          <p:cNvPr id="17" name="texto-108"/>
          <p:cNvSpPr txBox="1"/>
          <p:nvPr/>
        </p:nvSpPr>
        <p:spPr>
          <a:xfrm>
            <a:off x="2784348" y="2286000"/>
            <a:ext cx="14950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Postura e linguagem</a:t>
            </a:r>
            <a:endParaRPr lang="en-US" sz="1400" dirty="0"/>
          </a:p>
        </p:txBody>
      </p:sp>
      <p:sp>
        <p:nvSpPr>
          <p:cNvPr id="18" name="texto-109"/>
          <p:cNvSpPr txBox="1"/>
          <p:nvPr/>
        </p:nvSpPr>
        <p:spPr>
          <a:xfrm>
            <a:off x="2784348" y="2871216"/>
            <a:ext cx="14950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Construir confiança em cada interação</a:t>
            </a:r>
            <a:endParaRPr lang="en-US" sz="1050" dirty="0"/>
          </a:p>
        </p:txBody>
      </p:sp>
      <p:sp>
        <p:nvSpPr>
          <p:cNvPr id="19" name="selo-110"/>
          <p:cNvSpPr/>
          <p:nvPr/>
        </p:nvSpPr>
        <p:spPr>
          <a:xfrm>
            <a:off x="2784348" y="3639312"/>
            <a:ext cx="100584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20" name="selo-texto-111"/>
          <p:cNvSpPr txBox="1"/>
          <p:nvPr/>
        </p:nvSpPr>
        <p:spPr>
          <a:xfrm>
            <a:off x="2784348" y="3639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" dirty="0">
                <a:solidFill>
                  <a:schemeClr val="tx1"/>
                </a:solidFill>
              </a:rPr>
              <a:t>Manhã / 2h</a:t>
            </a:r>
            <a:endParaRPr lang="en-US" sz="900" dirty="0"/>
          </a:p>
        </p:txBody>
      </p:sp>
      <p:sp>
        <p:nvSpPr>
          <p:cNvPr id="21" name="cartao-112"/>
          <p:cNvSpPr/>
          <p:nvPr/>
        </p:nvSpPr>
        <p:spPr>
          <a:xfrm>
            <a:off x="4672584" y="1371600"/>
            <a:ext cx="1906524" cy="2743200"/>
          </a:xfrm>
          <a:prstGeom prst="roundRect">
            <a:avLst>
              <a:gd name="adj" fmla="val 7674"/>
            </a:avLst>
          </a:prstGeom>
          <a:solidFill>
            <a:schemeClr val="bg1"/>
          </a:solidFill>
          <a:ln/>
          <a:effectLst>
            <a:outerShdw blurRad="177800" dist="38100" dir="5400000" algn="bl" rotWithShape="0">
              <a:srgbClr val="0B1A1F">
                <a:alpha val="9000"/>
              </a:srgbClr>
            </a:outerShdw>
          </a:effectLst>
        </p:spPr>
      </p:sp>
      <p:sp>
        <p:nvSpPr>
          <p:cNvPr id="22" name="texto-113"/>
          <p:cNvSpPr txBox="1"/>
          <p:nvPr/>
        </p:nvSpPr>
        <p:spPr>
          <a:xfrm>
            <a:off x="4892040" y="153619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400" kern="0" spc="-1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3400" dirty="0"/>
          </a:p>
        </p:txBody>
      </p:sp>
      <p:sp>
        <p:nvSpPr>
          <p:cNvPr id="23" name="icone-fundo-114"/>
          <p:cNvSpPr/>
          <p:nvPr/>
        </p:nvSpPr>
        <p:spPr>
          <a:xfrm>
            <a:off x="5939028" y="159105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cone-1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184" y="1696212"/>
            <a:ext cx="210312" cy="210312"/>
          </a:xfrm>
          <a:prstGeom prst="rect">
            <a:avLst/>
          </a:prstGeom>
        </p:spPr>
      </p:pic>
      <p:sp>
        <p:nvSpPr>
          <p:cNvPr id="25" name="texto-116"/>
          <p:cNvSpPr txBox="1"/>
          <p:nvPr/>
        </p:nvSpPr>
        <p:spPr>
          <a:xfrm>
            <a:off x="4892040" y="2286000"/>
            <a:ext cx="14950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Venda consultiva</a:t>
            </a:r>
            <a:endParaRPr lang="en-US" sz="1400" dirty="0"/>
          </a:p>
        </p:txBody>
      </p:sp>
      <p:sp>
        <p:nvSpPr>
          <p:cNvPr id="26" name="texto-117"/>
          <p:cNvSpPr txBox="1"/>
          <p:nvPr/>
        </p:nvSpPr>
        <p:spPr>
          <a:xfrm>
            <a:off x="4892040" y="2871216"/>
            <a:ext cx="14950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Conectar necessidades e soluções</a:t>
            </a:r>
            <a:endParaRPr lang="en-US" sz="1050" dirty="0"/>
          </a:p>
        </p:txBody>
      </p:sp>
      <p:sp>
        <p:nvSpPr>
          <p:cNvPr id="27" name="selo-118"/>
          <p:cNvSpPr/>
          <p:nvPr/>
        </p:nvSpPr>
        <p:spPr>
          <a:xfrm>
            <a:off x="4892040" y="3639312"/>
            <a:ext cx="1005840" cy="27432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8" name="selo-texto-119"/>
          <p:cNvSpPr txBox="1"/>
          <p:nvPr/>
        </p:nvSpPr>
        <p:spPr>
          <a:xfrm>
            <a:off x="4892040" y="3639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" dirty="0">
                <a:solidFill>
                  <a:schemeClr val="tx1"/>
                </a:solidFill>
              </a:rPr>
              <a:t>Tarde / 2h</a:t>
            </a:r>
            <a:endParaRPr lang="en-US" sz="900" dirty="0"/>
          </a:p>
        </p:txBody>
      </p:sp>
      <p:sp>
        <p:nvSpPr>
          <p:cNvPr id="29" name="cartao-120"/>
          <p:cNvSpPr/>
          <p:nvPr/>
        </p:nvSpPr>
        <p:spPr>
          <a:xfrm>
            <a:off x="6780276" y="1371600"/>
            <a:ext cx="1906524" cy="2743200"/>
          </a:xfrm>
          <a:prstGeom prst="roundRect">
            <a:avLst>
              <a:gd name="adj" fmla="val 7674"/>
            </a:avLst>
          </a:prstGeom>
          <a:solidFill>
            <a:schemeClr val="bg1"/>
          </a:solidFill>
          <a:ln/>
          <a:effectLst>
            <a:outerShdw blurRad="177800" dist="38100" dir="5400000" algn="bl" rotWithShape="0">
              <a:srgbClr val="0B1A1F">
                <a:alpha val="9000"/>
              </a:srgbClr>
            </a:outerShdw>
          </a:effectLst>
        </p:spPr>
      </p:sp>
      <p:sp>
        <p:nvSpPr>
          <p:cNvPr id="30" name="texto-121"/>
          <p:cNvSpPr txBox="1"/>
          <p:nvPr/>
        </p:nvSpPr>
        <p:spPr>
          <a:xfrm>
            <a:off x="6999732" y="153619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400" kern="0" spc="-1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3400" dirty="0"/>
          </a:p>
        </p:txBody>
      </p:sp>
      <p:sp>
        <p:nvSpPr>
          <p:cNvPr id="31" name="icone-fundo-122"/>
          <p:cNvSpPr/>
          <p:nvPr/>
        </p:nvSpPr>
        <p:spPr>
          <a:xfrm>
            <a:off x="8046720" y="159105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icone-12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1876" y="1696212"/>
            <a:ext cx="210312" cy="210312"/>
          </a:xfrm>
          <a:prstGeom prst="rect">
            <a:avLst/>
          </a:prstGeom>
        </p:spPr>
      </p:pic>
      <p:sp>
        <p:nvSpPr>
          <p:cNvPr id="33" name="texto-124"/>
          <p:cNvSpPr txBox="1"/>
          <p:nvPr/>
        </p:nvSpPr>
        <p:spPr>
          <a:xfrm>
            <a:off x="6999732" y="2286000"/>
            <a:ext cx="14950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Accountability</a:t>
            </a:r>
            <a:endParaRPr lang="en-US" sz="1400" dirty="0"/>
          </a:p>
        </p:txBody>
      </p:sp>
      <p:sp>
        <p:nvSpPr>
          <p:cNvPr id="34" name="texto-125"/>
          <p:cNvSpPr txBox="1"/>
          <p:nvPr/>
        </p:nvSpPr>
        <p:spPr>
          <a:xfrm>
            <a:off x="6999732" y="2871216"/>
            <a:ext cx="14950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Transformar combinados em entregas</a:t>
            </a:r>
            <a:endParaRPr lang="en-US" sz="1050" dirty="0"/>
          </a:p>
        </p:txBody>
      </p:sp>
      <p:sp>
        <p:nvSpPr>
          <p:cNvPr id="35" name="selo-126"/>
          <p:cNvSpPr/>
          <p:nvPr/>
        </p:nvSpPr>
        <p:spPr>
          <a:xfrm>
            <a:off x="6999732" y="3639312"/>
            <a:ext cx="1005840" cy="27432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6" name="selo-texto-127"/>
          <p:cNvSpPr txBox="1"/>
          <p:nvPr/>
        </p:nvSpPr>
        <p:spPr>
          <a:xfrm>
            <a:off x="6999732" y="3639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" dirty="0">
                <a:solidFill>
                  <a:schemeClr val="tx1"/>
                </a:solidFill>
              </a:rPr>
              <a:t>Tarde / 2h</a:t>
            </a:r>
            <a:endParaRPr lang="en-US" sz="900" dirty="0"/>
          </a:p>
        </p:txBody>
      </p:sp>
      <p:sp>
        <p:nvSpPr>
          <p:cNvPr id="37" name="texto-128"/>
          <p:cNvSpPr txBox="1"/>
          <p:nvPr/>
        </p:nvSpPr>
        <p:spPr>
          <a:xfrm>
            <a:off x="457200" y="42793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chemeClr val="accent2"/>
                </a:solidFill>
              </a:rPr>
              <a:t>8 horas efetivas de conteúdo. Almoço e intervalos adicionais. Data e local a definir.</a:t>
            </a:r>
            <a:endParaRPr lang="en-US" sz="10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2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129"/>
          <p:cNvSpPr txBox="1"/>
          <p:nvPr/>
        </p:nvSpPr>
        <p:spPr>
          <a:xfrm>
            <a:off x="658368" y="6217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chemeClr val="tx1"/>
                </a:solidFill>
              </a:rPr>
              <a:t>PILAR</a:t>
            </a:r>
            <a:endParaRPr lang="en-US" sz="800" dirty="0"/>
          </a:p>
        </p:txBody>
      </p:sp>
      <p:sp>
        <p:nvSpPr>
          <p:cNvPr id="3" name="texto-130"/>
          <p:cNvSpPr txBox="1"/>
          <p:nvPr/>
        </p:nvSpPr>
        <p:spPr>
          <a:xfrm>
            <a:off x="640080" y="80467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5400" kern="0" spc="-2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58368" y="1700784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200" kern="0" spc="-50" dirty="0">
                <a:solidFill>
                  <a:schemeClr val="tx1"/>
                </a:solidFill>
              </a:rPr>
              <a:t>Leitura do cooperado e da carteira</a:t>
            </a:r>
            <a:endParaRPr lang="en-US" sz="2200" dirty="0"/>
          </a:p>
        </p:txBody>
      </p:sp>
      <p:sp>
        <p:nvSpPr>
          <p:cNvPr id="5" name="texto-131"/>
          <p:cNvSpPr txBox="1"/>
          <p:nvPr/>
        </p:nvSpPr>
        <p:spPr>
          <a:xfrm>
            <a:off x="658368" y="301752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Conhecer a rotina para identificar o que faz sentido.</a:t>
            </a:r>
            <a:endParaRPr lang="en-US" sz="1150" dirty="0"/>
          </a:p>
        </p:txBody>
      </p:sp>
      <p:sp>
        <p:nvSpPr>
          <p:cNvPr id="6" name="selo-132"/>
          <p:cNvSpPr/>
          <p:nvPr/>
        </p:nvSpPr>
        <p:spPr>
          <a:xfrm>
            <a:off x="658368" y="4160520"/>
            <a:ext cx="1667764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7" name="selo-texto-133"/>
          <p:cNvSpPr txBox="1"/>
          <p:nvPr/>
        </p:nvSpPr>
        <p:spPr>
          <a:xfrm>
            <a:off x="658368" y="4160520"/>
            <a:ext cx="16677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chemeClr val="accent1"/>
                </a:solidFill>
              </a:rPr>
              <a:t>Manhã  •  2 horas</a:t>
            </a:r>
            <a:endParaRPr lang="en-US" sz="950" dirty="0"/>
          </a:p>
        </p:txBody>
      </p:sp>
      <p:sp>
        <p:nvSpPr>
          <p:cNvPr id="8" name="cartao-134"/>
          <p:cNvSpPr/>
          <p:nvPr/>
        </p:nvSpPr>
        <p:spPr>
          <a:xfrm>
            <a:off x="3520440" y="457200"/>
            <a:ext cx="2468880" cy="1481328"/>
          </a:xfrm>
          <a:prstGeom prst="roundRect">
            <a:avLst>
              <a:gd name="adj" fmla="val 9877"/>
            </a:avLst>
          </a:prstGeom>
          <a:solidFill>
            <a:schemeClr val="bg1"/>
          </a:solidFill>
          <a:ln/>
          <a:effectLst>
            <a:outerShdw blurRad="177800" dist="38100" dir="5400000" algn="bl" rotWithShape="0">
              <a:srgbClr val="0B1A1F">
                <a:alpha val="9000"/>
              </a:srgbClr>
            </a:outerShdw>
          </a:effectLst>
        </p:spPr>
      </p:sp>
      <p:sp>
        <p:nvSpPr>
          <p:cNvPr id="9" name="etiqueta-135"/>
          <p:cNvSpPr txBox="1"/>
          <p:nvPr/>
        </p:nvSpPr>
        <p:spPr>
          <a:xfrm>
            <a:off x="3721608" y="62179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chemeClr val="accent2"/>
                </a:solidFill>
              </a:rPr>
              <a:t>OBJETIVO</a:t>
            </a:r>
            <a:endParaRPr lang="en-US" sz="800" dirty="0"/>
          </a:p>
        </p:txBody>
      </p:sp>
      <p:sp>
        <p:nvSpPr>
          <p:cNvPr id="10" name="texto-136"/>
          <p:cNvSpPr txBox="1"/>
          <p:nvPr/>
        </p:nvSpPr>
        <p:spPr>
          <a:xfrm>
            <a:off x="3721608" y="896112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Compreender o contexto dos profissionais da saúde e priorizar oportunidades de relacionamento na carteira.</a:t>
            </a:r>
            <a:endParaRPr lang="en-US" sz="1050" dirty="0"/>
          </a:p>
        </p:txBody>
      </p:sp>
      <p:sp>
        <p:nvSpPr>
          <p:cNvPr id="11" name="cartao-137"/>
          <p:cNvSpPr/>
          <p:nvPr/>
        </p:nvSpPr>
        <p:spPr>
          <a:xfrm>
            <a:off x="6217920" y="457200"/>
            <a:ext cx="2468880" cy="1481328"/>
          </a:xfrm>
          <a:prstGeom prst="roundRect">
            <a:avLst>
              <a:gd name="adj" fmla="val 9877"/>
            </a:avLst>
          </a:prstGeom>
          <a:solidFill>
            <a:schemeClr val="tx1"/>
          </a:solidFill>
          <a:ln/>
        </p:spPr>
      </p:sp>
      <p:sp>
        <p:nvSpPr>
          <p:cNvPr id="12" name="etiqueta-138"/>
          <p:cNvSpPr txBox="1"/>
          <p:nvPr/>
        </p:nvSpPr>
        <p:spPr>
          <a:xfrm>
            <a:off x="6419088" y="62179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chemeClr val="accent1"/>
                </a:solidFill>
              </a:rPr>
              <a:t>ENTREGA PRÁTICA</a:t>
            </a:r>
            <a:endParaRPr lang="en-US" sz="800" dirty="0"/>
          </a:p>
        </p:txBody>
      </p:sp>
      <p:sp>
        <p:nvSpPr>
          <p:cNvPr id="13" name="texto-139"/>
          <p:cNvSpPr txBox="1"/>
          <p:nvPr/>
        </p:nvSpPr>
        <p:spPr>
          <a:xfrm>
            <a:off x="6419088" y="896112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bg1"/>
                </a:solidFill>
              </a:rPr>
              <a:t>Análise de até cinco cooperados e escolha de três prioridades, com perguntas e próximos contatos.</a:t>
            </a:r>
            <a:endParaRPr lang="en-US" sz="1050" dirty="0"/>
          </a:p>
        </p:txBody>
      </p:sp>
      <p:sp>
        <p:nvSpPr>
          <p:cNvPr id="14" name="etiqueta-140"/>
          <p:cNvSpPr txBox="1"/>
          <p:nvPr/>
        </p:nvSpPr>
        <p:spPr>
          <a:xfrm>
            <a:off x="3520440" y="2157984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chemeClr val="accent2"/>
                </a:solidFill>
              </a:rPr>
              <a:t>TÓPICOS ABORDADOS</a:t>
            </a:r>
            <a:endParaRPr lang="en-US" sz="800" dirty="0"/>
          </a:p>
        </p:txBody>
      </p:sp>
      <p:sp>
        <p:nvSpPr>
          <p:cNvPr id="15" name="divisor-141"/>
          <p:cNvSpPr/>
          <p:nvPr/>
        </p:nvSpPr>
        <p:spPr>
          <a:xfrm>
            <a:off x="3520440" y="2414016"/>
            <a:ext cx="516636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6" name="texto-142"/>
          <p:cNvSpPr txBox="1"/>
          <p:nvPr/>
        </p:nvSpPr>
        <p:spPr>
          <a:xfrm>
            <a:off x="3520440" y="2414016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chemeClr val="accent2"/>
                </a:solidFill>
              </a:rPr>
              <a:t>01</a:t>
            </a:r>
            <a:endParaRPr lang="en-US" sz="900" dirty="0"/>
          </a:p>
        </p:txBody>
      </p:sp>
      <p:sp>
        <p:nvSpPr>
          <p:cNvPr id="17" name="topico-143"/>
          <p:cNvSpPr txBox="1"/>
          <p:nvPr/>
        </p:nvSpPr>
        <p:spPr>
          <a:xfrm>
            <a:off x="3931920" y="2441448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chemeClr val="tx1"/>
                </a:solidFill>
              </a:rPr>
              <a:t>Médicos, dentistas, clínicas e hospitais:</a:t>
            </a:r>
            <a:r>
              <a:rPr lang="en-US" sz="1050" dirty="0">
                <a:solidFill>
                  <a:schemeClr val="tx2"/>
                </a:solidFill>
              </a:rPr>
              <a:t> vínculos, fontes de receita e momentos de carreira.</a:t>
            </a:r>
            <a:endParaRPr lang="en-US" sz="1050" dirty="0"/>
          </a:p>
        </p:txBody>
      </p:sp>
      <p:sp>
        <p:nvSpPr>
          <p:cNvPr id="18" name="divisor-144"/>
          <p:cNvSpPr/>
          <p:nvPr/>
        </p:nvSpPr>
        <p:spPr>
          <a:xfrm>
            <a:off x="3520440" y="2845613"/>
            <a:ext cx="516636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9" name="texto-145"/>
          <p:cNvSpPr txBox="1"/>
          <p:nvPr/>
        </p:nvSpPr>
        <p:spPr>
          <a:xfrm>
            <a:off x="3520440" y="2845613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chemeClr val="accent2"/>
                </a:solidFill>
              </a:rPr>
              <a:t>02</a:t>
            </a:r>
            <a:endParaRPr lang="en-US" sz="900" dirty="0"/>
          </a:p>
        </p:txBody>
      </p:sp>
      <p:sp>
        <p:nvSpPr>
          <p:cNvPr id="20" name="topico-146"/>
          <p:cNvSpPr txBox="1"/>
          <p:nvPr/>
        </p:nvSpPr>
        <p:spPr>
          <a:xfrm>
            <a:off x="3931920" y="2873045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chemeClr val="tx1"/>
                </a:solidFill>
              </a:rPr>
              <a:t>Plantões, consultório e clínica:</a:t>
            </a:r>
            <a:r>
              <a:rPr lang="en-US" sz="1050" dirty="0">
                <a:solidFill>
                  <a:schemeClr val="tx2"/>
                </a:solidFill>
              </a:rPr>
              <a:t> necessidades da pessoa, da família e do negócio.</a:t>
            </a:r>
            <a:endParaRPr lang="en-US" sz="1050" dirty="0"/>
          </a:p>
        </p:txBody>
      </p:sp>
      <p:sp>
        <p:nvSpPr>
          <p:cNvPr id="21" name="divisor-147"/>
          <p:cNvSpPr/>
          <p:nvPr/>
        </p:nvSpPr>
        <p:spPr>
          <a:xfrm>
            <a:off x="3520440" y="3277210"/>
            <a:ext cx="516636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2" name="texto-148"/>
          <p:cNvSpPr txBox="1"/>
          <p:nvPr/>
        </p:nvSpPr>
        <p:spPr>
          <a:xfrm>
            <a:off x="3520440" y="3277210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chemeClr val="accent2"/>
                </a:solidFill>
              </a:rPr>
              <a:t>03</a:t>
            </a:r>
            <a:endParaRPr lang="en-US" sz="900" dirty="0"/>
          </a:p>
        </p:txBody>
      </p:sp>
      <p:sp>
        <p:nvSpPr>
          <p:cNvPr id="23" name="topico-149"/>
          <p:cNvSpPr txBox="1"/>
          <p:nvPr/>
        </p:nvSpPr>
        <p:spPr>
          <a:xfrm>
            <a:off x="3931920" y="3304642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chemeClr val="tx1"/>
                </a:solidFill>
              </a:rPr>
              <a:t>Renda, patrimônio, liquidez e projetos:</a:t>
            </a:r>
            <a:r>
              <a:rPr lang="en-US" sz="1050" dirty="0">
                <a:solidFill>
                  <a:schemeClr val="tx2"/>
                </a:solidFill>
              </a:rPr>
              <a:t> perguntas antes de propor soluções.</a:t>
            </a:r>
            <a:endParaRPr lang="en-US" sz="1050" dirty="0"/>
          </a:p>
        </p:txBody>
      </p:sp>
      <p:sp>
        <p:nvSpPr>
          <p:cNvPr id="24" name="divisor-150"/>
          <p:cNvSpPr/>
          <p:nvPr/>
        </p:nvSpPr>
        <p:spPr>
          <a:xfrm>
            <a:off x="3520440" y="3708806"/>
            <a:ext cx="516636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5" name="texto-151"/>
          <p:cNvSpPr txBox="1"/>
          <p:nvPr/>
        </p:nvSpPr>
        <p:spPr>
          <a:xfrm>
            <a:off x="3520440" y="3708806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chemeClr val="accent2"/>
                </a:solidFill>
              </a:rPr>
              <a:t>04</a:t>
            </a:r>
            <a:endParaRPr lang="en-US" sz="900" dirty="0"/>
          </a:p>
        </p:txBody>
      </p:sp>
      <p:sp>
        <p:nvSpPr>
          <p:cNvPr id="26" name="topico-152"/>
          <p:cNvSpPr txBox="1"/>
          <p:nvPr/>
        </p:nvSpPr>
        <p:spPr>
          <a:xfrm>
            <a:off x="3931920" y="3736238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chemeClr val="tx1"/>
                </a:solidFill>
              </a:rPr>
              <a:t>Ecossistema do cooperado:</a:t>
            </a:r>
            <a:r>
              <a:rPr lang="en-US" sz="1050" dirty="0">
                <a:solidFill>
                  <a:schemeClr val="tx2"/>
                </a:solidFill>
              </a:rPr>
              <a:t> secretária, gestor da clínica, sócios e contador.</a:t>
            </a:r>
            <a:endParaRPr lang="en-US" sz="1050" dirty="0"/>
          </a:p>
        </p:txBody>
      </p:sp>
      <p:sp>
        <p:nvSpPr>
          <p:cNvPr id="27" name="divisor-153"/>
          <p:cNvSpPr/>
          <p:nvPr/>
        </p:nvSpPr>
        <p:spPr>
          <a:xfrm>
            <a:off x="3520440" y="4140403"/>
            <a:ext cx="516636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8" name="texto-154"/>
          <p:cNvSpPr txBox="1"/>
          <p:nvPr/>
        </p:nvSpPr>
        <p:spPr>
          <a:xfrm>
            <a:off x="3520440" y="4140403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chemeClr val="accent2"/>
                </a:solidFill>
              </a:rPr>
              <a:t>05</a:t>
            </a:r>
            <a:endParaRPr lang="en-US" sz="900" dirty="0"/>
          </a:p>
        </p:txBody>
      </p:sp>
      <p:sp>
        <p:nvSpPr>
          <p:cNvPr id="29" name="topico-155"/>
          <p:cNvSpPr txBox="1"/>
          <p:nvPr/>
        </p:nvSpPr>
        <p:spPr>
          <a:xfrm>
            <a:off x="3931920" y="4167835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chemeClr val="tx1"/>
                </a:solidFill>
              </a:rPr>
              <a:t>Análise individual da carteira:</a:t>
            </a:r>
            <a:r>
              <a:rPr lang="en-US" sz="1050" dirty="0">
                <a:solidFill>
                  <a:schemeClr val="tx2"/>
                </a:solidFill>
              </a:rPr>
              <a:t> potencial, lacunas de informação e prioridades.</a:t>
            </a:r>
            <a:endParaRPr lang="en-US" sz="10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52044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2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156"/>
          <p:cNvSpPr txBox="1"/>
          <p:nvPr/>
        </p:nvSpPr>
        <p:spPr>
          <a:xfrm>
            <a:off x="658368" y="6217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chemeClr val="tx1"/>
                </a:solidFill>
              </a:rPr>
              <a:t>PILAR</a:t>
            </a:r>
            <a:endParaRPr lang="en-US" sz="800" dirty="0"/>
          </a:p>
        </p:txBody>
      </p:sp>
      <p:sp>
        <p:nvSpPr>
          <p:cNvPr id="3" name="texto-157"/>
          <p:cNvSpPr txBox="1"/>
          <p:nvPr/>
        </p:nvSpPr>
        <p:spPr>
          <a:xfrm>
            <a:off x="640080" y="80467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5400" kern="0" spc="-2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5400" dirty="0"/>
          </a:p>
        </p:txBody>
      </p:sp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58368" y="1700784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200" kern="0" spc="-50" dirty="0">
                <a:solidFill>
                  <a:schemeClr val="tx1"/>
                </a:solidFill>
              </a:rPr>
              <a:t>Postura, diplomacia e linguagem</a:t>
            </a:r>
            <a:endParaRPr lang="en-US" sz="2200" dirty="0"/>
          </a:p>
        </p:txBody>
      </p:sp>
      <p:sp>
        <p:nvSpPr>
          <p:cNvPr id="5" name="texto-158"/>
          <p:cNvSpPr txBox="1"/>
          <p:nvPr/>
        </p:nvSpPr>
        <p:spPr>
          <a:xfrm>
            <a:off x="658368" y="301752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Construir confiança com o cooperado e sua equipe.</a:t>
            </a:r>
            <a:endParaRPr lang="en-US" sz="1150" dirty="0"/>
          </a:p>
        </p:txBody>
      </p:sp>
      <p:sp>
        <p:nvSpPr>
          <p:cNvPr id="6" name="selo-159"/>
          <p:cNvSpPr/>
          <p:nvPr/>
        </p:nvSpPr>
        <p:spPr>
          <a:xfrm>
            <a:off x="658368" y="4160520"/>
            <a:ext cx="1667764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7" name="selo-texto-160"/>
          <p:cNvSpPr txBox="1"/>
          <p:nvPr/>
        </p:nvSpPr>
        <p:spPr>
          <a:xfrm>
            <a:off x="658368" y="4160520"/>
            <a:ext cx="16677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chemeClr val="accent1"/>
                </a:solidFill>
              </a:rPr>
              <a:t>Manhã  •  2 horas</a:t>
            </a:r>
            <a:endParaRPr lang="en-US" sz="950" dirty="0"/>
          </a:p>
        </p:txBody>
      </p:sp>
      <p:sp>
        <p:nvSpPr>
          <p:cNvPr id="8" name="cartao-161"/>
          <p:cNvSpPr/>
          <p:nvPr/>
        </p:nvSpPr>
        <p:spPr>
          <a:xfrm>
            <a:off x="3520440" y="457200"/>
            <a:ext cx="2468880" cy="1481328"/>
          </a:xfrm>
          <a:prstGeom prst="roundRect">
            <a:avLst>
              <a:gd name="adj" fmla="val 9877"/>
            </a:avLst>
          </a:prstGeom>
          <a:solidFill>
            <a:schemeClr val="bg1"/>
          </a:solidFill>
          <a:ln/>
          <a:effectLst>
            <a:outerShdw blurRad="177800" dist="38100" dir="5400000" algn="bl" rotWithShape="0">
              <a:srgbClr val="0B1A1F">
                <a:alpha val="9000"/>
              </a:srgbClr>
            </a:outerShdw>
          </a:effectLst>
        </p:spPr>
      </p:sp>
      <p:sp>
        <p:nvSpPr>
          <p:cNvPr id="9" name="etiqueta-162"/>
          <p:cNvSpPr txBox="1"/>
          <p:nvPr/>
        </p:nvSpPr>
        <p:spPr>
          <a:xfrm>
            <a:off x="3721608" y="62179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chemeClr val="accent2"/>
                </a:solidFill>
              </a:rPr>
              <a:t>OBJETIVO</a:t>
            </a:r>
            <a:endParaRPr lang="en-US" sz="800" dirty="0"/>
          </a:p>
        </p:txBody>
      </p:sp>
      <p:sp>
        <p:nvSpPr>
          <p:cNvPr id="10" name="texto-163"/>
          <p:cNvSpPr txBox="1"/>
          <p:nvPr/>
        </p:nvSpPr>
        <p:spPr>
          <a:xfrm>
            <a:off x="3721608" y="896112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Desenvolver presença profissional e comunicação adequada à alta renda, com clareza, respeito e segurança.</a:t>
            </a:r>
            <a:endParaRPr lang="en-US" sz="1050" dirty="0"/>
          </a:p>
        </p:txBody>
      </p:sp>
      <p:sp>
        <p:nvSpPr>
          <p:cNvPr id="11" name="cartao-164"/>
          <p:cNvSpPr/>
          <p:nvPr/>
        </p:nvSpPr>
        <p:spPr>
          <a:xfrm>
            <a:off x="6217920" y="457200"/>
            <a:ext cx="2468880" cy="1481328"/>
          </a:xfrm>
          <a:prstGeom prst="roundRect">
            <a:avLst>
              <a:gd name="adj" fmla="val 9877"/>
            </a:avLst>
          </a:prstGeom>
          <a:solidFill>
            <a:schemeClr val="tx1"/>
          </a:solidFill>
          <a:ln/>
        </p:spPr>
      </p:sp>
      <p:sp>
        <p:nvSpPr>
          <p:cNvPr id="12" name="etiqueta-165"/>
          <p:cNvSpPr txBox="1"/>
          <p:nvPr/>
        </p:nvSpPr>
        <p:spPr>
          <a:xfrm>
            <a:off x="6419088" y="62179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chemeClr val="accent1"/>
                </a:solidFill>
              </a:rPr>
              <a:t>ENTREGA PRÁTICA</a:t>
            </a:r>
            <a:endParaRPr lang="en-US" sz="800" dirty="0"/>
          </a:p>
        </p:txBody>
      </p:sp>
      <p:sp>
        <p:nvSpPr>
          <p:cNvPr id="13" name="texto-166"/>
          <p:cNvSpPr txBox="1"/>
          <p:nvPr/>
        </p:nvSpPr>
        <p:spPr>
          <a:xfrm>
            <a:off x="6419088" y="896112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bg1"/>
                </a:solidFill>
              </a:rPr>
              <a:t>Revisão de mensagens, simulação com secretária e cooperado e dois compromissos de postura.</a:t>
            </a:r>
            <a:endParaRPr lang="en-US" sz="1050" dirty="0"/>
          </a:p>
        </p:txBody>
      </p:sp>
      <p:sp>
        <p:nvSpPr>
          <p:cNvPr id="14" name="etiqueta-167"/>
          <p:cNvSpPr txBox="1"/>
          <p:nvPr/>
        </p:nvSpPr>
        <p:spPr>
          <a:xfrm>
            <a:off x="3520440" y="2157984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chemeClr val="accent2"/>
                </a:solidFill>
              </a:rPr>
              <a:t>TÓPICOS ABORDADOS</a:t>
            </a:r>
            <a:endParaRPr lang="en-US" sz="800" dirty="0"/>
          </a:p>
        </p:txBody>
      </p:sp>
      <p:sp>
        <p:nvSpPr>
          <p:cNvPr id="15" name="divisor-168"/>
          <p:cNvSpPr/>
          <p:nvPr/>
        </p:nvSpPr>
        <p:spPr>
          <a:xfrm>
            <a:off x="3520440" y="2414016"/>
            <a:ext cx="516636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6" name="texto-169"/>
          <p:cNvSpPr txBox="1"/>
          <p:nvPr/>
        </p:nvSpPr>
        <p:spPr>
          <a:xfrm>
            <a:off x="3520440" y="2414016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chemeClr val="accent2"/>
                </a:solidFill>
              </a:rPr>
              <a:t>01</a:t>
            </a:r>
            <a:endParaRPr lang="en-US" sz="900" dirty="0"/>
          </a:p>
        </p:txBody>
      </p:sp>
      <p:sp>
        <p:nvSpPr>
          <p:cNvPr id="17" name="topico-170"/>
          <p:cNvSpPr txBox="1"/>
          <p:nvPr/>
        </p:nvSpPr>
        <p:spPr>
          <a:xfrm>
            <a:off x="3931920" y="2441448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chemeClr val="tx1"/>
                </a:solidFill>
              </a:rPr>
              <a:t>Preparo, pontualidade, discrição e escuta:</a:t>
            </a:r>
            <a:r>
              <a:rPr lang="en-US" sz="1050" dirty="0">
                <a:solidFill>
                  <a:schemeClr val="tx2"/>
                </a:solidFill>
              </a:rPr>
              <a:t> a marca pessoal construída na rotina.</a:t>
            </a:r>
            <a:endParaRPr lang="en-US" sz="1050" dirty="0"/>
          </a:p>
        </p:txBody>
      </p:sp>
      <p:sp>
        <p:nvSpPr>
          <p:cNvPr id="18" name="divisor-171"/>
          <p:cNvSpPr/>
          <p:nvPr/>
        </p:nvSpPr>
        <p:spPr>
          <a:xfrm>
            <a:off x="3520440" y="2845613"/>
            <a:ext cx="516636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9" name="texto-172"/>
          <p:cNvSpPr txBox="1"/>
          <p:nvPr/>
        </p:nvSpPr>
        <p:spPr>
          <a:xfrm>
            <a:off x="3520440" y="2845613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chemeClr val="accent2"/>
                </a:solidFill>
              </a:rPr>
              <a:t>02</a:t>
            </a:r>
            <a:endParaRPr lang="en-US" sz="900" dirty="0"/>
          </a:p>
        </p:txBody>
      </p:sp>
      <p:sp>
        <p:nvSpPr>
          <p:cNvPr id="20" name="topico-173"/>
          <p:cNvSpPr txBox="1"/>
          <p:nvPr/>
        </p:nvSpPr>
        <p:spPr>
          <a:xfrm>
            <a:off x="3931920" y="2873045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chemeClr val="tx1"/>
                </a:solidFill>
              </a:rPr>
              <a:t>WhatsApp, telefone e reunião:</a:t>
            </a:r>
            <a:r>
              <a:rPr lang="en-US" sz="1050" dirty="0">
                <a:solidFill>
                  <a:schemeClr val="tx2"/>
                </a:solidFill>
              </a:rPr>
              <a:t> propósito claro, objetividade e próximo passo.</a:t>
            </a:r>
            <a:endParaRPr lang="en-US" sz="1050" dirty="0"/>
          </a:p>
        </p:txBody>
      </p:sp>
      <p:sp>
        <p:nvSpPr>
          <p:cNvPr id="21" name="divisor-174"/>
          <p:cNvSpPr/>
          <p:nvPr/>
        </p:nvSpPr>
        <p:spPr>
          <a:xfrm>
            <a:off x="3520440" y="3277210"/>
            <a:ext cx="516636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2" name="texto-175"/>
          <p:cNvSpPr txBox="1"/>
          <p:nvPr/>
        </p:nvSpPr>
        <p:spPr>
          <a:xfrm>
            <a:off x="3520440" y="3277210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chemeClr val="accent2"/>
                </a:solidFill>
              </a:rPr>
              <a:t>03</a:t>
            </a:r>
            <a:endParaRPr lang="en-US" sz="900" dirty="0"/>
          </a:p>
        </p:txBody>
      </p:sp>
      <p:sp>
        <p:nvSpPr>
          <p:cNvPr id="23" name="topico-176"/>
          <p:cNvSpPr txBox="1"/>
          <p:nvPr/>
        </p:nvSpPr>
        <p:spPr>
          <a:xfrm>
            <a:off x="3931920" y="3304642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Diplomacia em cobranças, reclamações, negativas e comparação com concorrentes.</a:t>
            </a:r>
            <a:endParaRPr lang="en-US" sz="1050" dirty="0"/>
          </a:p>
        </p:txBody>
      </p:sp>
      <p:sp>
        <p:nvSpPr>
          <p:cNvPr id="24" name="divisor-177"/>
          <p:cNvSpPr/>
          <p:nvPr/>
        </p:nvSpPr>
        <p:spPr>
          <a:xfrm>
            <a:off x="3520440" y="3708806"/>
            <a:ext cx="516636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5" name="texto-178"/>
          <p:cNvSpPr txBox="1"/>
          <p:nvPr/>
        </p:nvSpPr>
        <p:spPr>
          <a:xfrm>
            <a:off x="3520440" y="3708806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chemeClr val="accent2"/>
                </a:solidFill>
              </a:rPr>
              <a:t>04</a:t>
            </a:r>
            <a:endParaRPr lang="en-US" sz="900" dirty="0"/>
          </a:p>
        </p:txBody>
      </p:sp>
      <p:sp>
        <p:nvSpPr>
          <p:cNvPr id="26" name="topico-179"/>
          <p:cNvSpPr txBox="1"/>
          <p:nvPr/>
        </p:nvSpPr>
        <p:spPr>
          <a:xfrm>
            <a:off x="3931920" y="3736238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chemeClr val="tx1"/>
                </a:solidFill>
              </a:rPr>
              <a:t>Secretária como relação estratégica:</a:t>
            </a:r>
            <a:r>
              <a:rPr lang="en-US" sz="1050" dirty="0">
                <a:solidFill>
                  <a:schemeClr val="tx2"/>
                </a:solidFill>
              </a:rPr>
              <a:t> agenda, confiança e continuidade do contato.</a:t>
            </a:r>
            <a:endParaRPr lang="en-US" sz="1050" dirty="0"/>
          </a:p>
        </p:txBody>
      </p:sp>
      <p:sp>
        <p:nvSpPr>
          <p:cNvPr id="27" name="divisor-180"/>
          <p:cNvSpPr/>
          <p:nvPr/>
        </p:nvSpPr>
        <p:spPr>
          <a:xfrm>
            <a:off x="3520440" y="4140403"/>
            <a:ext cx="516636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8" name="texto-181"/>
          <p:cNvSpPr txBox="1"/>
          <p:nvPr/>
        </p:nvSpPr>
        <p:spPr>
          <a:xfrm>
            <a:off x="3520440" y="4140403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chemeClr val="accent2"/>
                </a:solidFill>
              </a:rPr>
              <a:t>05</a:t>
            </a:r>
            <a:endParaRPr lang="en-US" sz="900" dirty="0"/>
          </a:p>
        </p:txBody>
      </p:sp>
      <p:sp>
        <p:nvSpPr>
          <p:cNvPr id="29" name="topico-182"/>
          <p:cNvSpPr txBox="1"/>
          <p:nvPr/>
        </p:nvSpPr>
        <p:spPr>
          <a:xfrm>
            <a:off x="3931920" y="4167835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Revisão individual da postura e simulações com observação e devolutiva.</a:t>
            </a:r>
            <a:endParaRPr lang="en-US" sz="10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52044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2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183"/>
          <p:cNvSpPr txBox="1"/>
          <p:nvPr/>
        </p:nvSpPr>
        <p:spPr>
          <a:xfrm>
            <a:off x="658368" y="6217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chemeClr val="tx1"/>
                </a:solidFill>
              </a:rPr>
              <a:t>PILAR</a:t>
            </a:r>
            <a:endParaRPr lang="en-US" sz="800" dirty="0"/>
          </a:p>
        </p:txBody>
      </p:sp>
      <p:sp>
        <p:nvSpPr>
          <p:cNvPr id="3" name="texto-184"/>
          <p:cNvSpPr txBox="1"/>
          <p:nvPr/>
        </p:nvSpPr>
        <p:spPr>
          <a:xfrm>
            <a:off x="640080" y="80467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5400" kern="0" spc="-2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5400" dirty="0"/>
          </a:p>
        </p:txBody>
      </p:sp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58368" y="1700784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200" kern="0" spc="-50" dirty="0">
                <a:solidFill>
                  <a:schemeClr val="tx1"/>
                </a:solidFill>
              </a:rPr>
              <a:t>Venda consultiva e soluções</a:t>
            </a:r>
            <a:endParaRPr lang="en-US" sz="2200" dirty="0"/>
          </a:p>
        </p:txBody>
      </p:sp>
      <p:sp>
        <p:nvSpPr>
          <p:cNvPr id="5" name="texto-185"/>
          <p:cNvSpPr txBox="1"/>
          <p:nvPr/>
        </p:nvSpPr>
        <p:spPr>
          <a:xfrm>
            <a:off x="658368" y="301752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O mesmo produto, uma conversa adequada à saúde.</a:t>
            </a:r>
            <a:endParaRPr lang="en-US" sz="1150" dirty="0"/>
          </a:p>
        </p:txBody>
      </p:sp>
      <p:sp>
        <p:nvSpPr>
          <p:cNvPr id="6" name="selo-186"/>
          <p:cNvSpPr/>
          <p:nvPr/>
        </p:nvSpPr>
        <p:spPr>
          <a:xfrm>
            <a:off x="658368" y="4160520"/>
            <a:ext cx="1667764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7" name="selo-texto-187"/>
          <p:cNvSpPr txBox="1"/>
          <p:nvPr/>
        </p:nvSpPr>
        <p:spPr>
          <a:xfrm>
            <a:off x="658368" y="4160520"/>
            <a:ext cx="16677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chemeClr val="accent1"/>
                </a:solidFill>
              </a:rPr>
              <a:t>Tarde  •  2 horas</a:t>
            </a:r>
            <a:endParaRPr lang="en-US" sz="950" dirty="0"/>
          </a:p>
        </p:txBody>
      </p:sp>
      <p:sp>
        <p:nvSpPr>
          <p:cNvPr id="8" name="cartao-188"/>
          <p:cNvSpPr/>
          <p:nvPr/>
        </p:nvSpPr>
        <p:spPr>
          <a:xfrm>
            <a:off x="3520440" y="457200"/>
            <a:ext cx="2468880" cy="1481328"/>
          </a:xfrm>
          <a:prstGeom prst="roundRect">
            <a:avLst>
              <a:gd name="adj" fmla="val 9877"/>
            </a:avLst>
          </a:prstGeom>
          <a:solidFill>
            <a:schemeClr val="bg1"/>
          </a:solidFill>
          <a:ln/>
          <a:effectLst>
            <a:outerShdw blurRad="177800" dist="38100" dir="5400000" algn="bl" rotWithShape="0">
              <a:srgbClr val="0B1A1F">
                <a:alpha val="9000"/>
              </a:srgbClr>
            </a:outerShdw>
          </a:effectLst>
        </p:spPr>
      </p:sp>
      <p:sp>
        <p:nvSpPr>
          <p:cNvPr id="9" name="etiqueta-189"/>
          <p:cNvSpPr txBox="1"/>
          <p:nvPr/>
        </p:nvSpPr>
        <p:spPr>
          <a:xfrm>
            <a:off x="3721608" y="62179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chemeClr val="accent2"/>
                </a:solidFill>
              </a:rPr>
              <a:t>OBJETIVO</a:t>
            </a:r>
            <a:endParaRPr lang="en-US" sz="800" dirty="0"/>
          </a:p>
        </p:txBody>
      </p:sp>
      <p:sp>
        <p:nvSpPr>
          <p:cNvPr id="10" name="texto-190"/>
          <p:cNvSpPr txBox="1"/>
          <p:nvPr/>
        </p:nvSpPr>
        <p:spPr>
          <a:xfrm>
            <a:off x="3721608" y="896112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Revisitar o portfólio e construir propostas ligadas à rotina, às prioridades e à capacidade financeira do cooperado.</a:t>
            </a:r>
            <a:endParaRPr lang="en-US" sz="1050" dirty="0"/>
          </a:p>
        </p:txBody>
      </p:sp>
      <p:sp>
        <p:nvSpPr>
          <p:cNvPr id="11" name="cartao-191"/>
          <p:cNvSpPr/>
          <p:nvPr/>
        </p:nvSpPr>
        <p:spPr>
          <a:xfrm>
            <a:off x="6217920" y="457200"/>
            <a:ext cx="2468880" cy="1481328"/>
          </a:xfrm>
          <a:prstGeom prst="roundRect">
            <a:avLst>
              <a:gd name="adj" fmla="val 9877"/>
            </a:avLst>
          </a:prstGeom>
          <a:solidFill>
            <a:schemeClr val="tx1"/>
          </a:solidFill>
          <a:ln/>
        </p:spPr>
      </p:sp>
      <p:sp>
        <p:nvSpPr>
          <p:cNvPr id="12" name="etiqueta-192"/>
          <p:cNvSpPr txBox="1"/>
          <p:nvPr/>
        </p:nvSpPr>
        <p:spPr>
          <a:xfrm>
            <a:off x="6419088" y="62179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chemeClr val="accent1"/>
                </a:solidFill>
              </a:rPr>
              <a:t>ENTREGA PRÁTICA</a:t>
            </a:r>
            <a:endParaRPr lang="en-US" sz="800" dirty="0"/>
          </a:p>
        </p:txBody>
      </p:sp>
      <p:sp>
        <p:nvSpPr>
          <p:cNvPr id="13" name="texto-193"/>
          <p:cNvSpPr txBox="1"/>
          <p:nvPr/>
        </p:nvSpPr>
        <p:spPr>
          <a:xfrm>
            <a:off x="6419088" y="896112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bg1"/>
                </a:solidFill>
              </a:rPr>
              <a:t>Laboratório de argumentação: necessidade, pergunta, benefício, solução a avaliar e próximo passo.</a:t>
            </a:r>
            <a:endParaRPr lang="en-US" sz="1050" dirty="0"/>
          </a:p>
        </p:txBody>
      </p:sp>
      <p:sp>
        <p:nvSpPr>
          <p:cNvPr id="14" name="etiqueta-194"/>
          <p:cNvSpPr txBox="1"/>
          <p:nvPr/>
        </p:nvSpPr>
        <p:spPr>
          <a:xfrm>
            <a:off x="3520440" y="2157984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chemeClr val="accent2"/>
                </a:solidFill>
              </a:rPr>
              <a:t>TÓPICOS ABORDADOS</a:t>
            </a:r>
            <a:endParaRPr lang="en-US" sz="800" dirty="0"/>
          </a:p>
        </p:txBody>
      </p:sp>
      <p:sp>
        <p:nvSpPr>
          <p:cNvPr id="15" name="divisor-195"/>
          <p:cNvSpPr/>
          <p:nvPr/>
        </p:nvSpPr>
        <p:spPr>
          <a:xfrm>
            <a:off x="3520440" y="2414016"/>
            <a:ext cx="516636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6" name="texto-196"/>
          <p:cNvSpPr txBox="1"/>
          <p:nvPr/>
        </p:nvSpPr>
        <p:spPr>
          <a:xfrm>
            <a:off x="3520440" y="2414016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chemeClr val="accent2"/>
                </a:solidFill>
              </a:rPr>
              <a:t>01</a:t>
            </a:r>
            <a:endParaRPr lang="en-US" sz="900" dirty="0"/>
          </a:p>
        </p:txBody>
      </p:sp>
      <p:sp>
        <p:nvSpPr>
          <p:cNvPr id="17" name="topico-197"/>
          <p:cNvSpPr txBox="1"/>
          <p:nvPr/>
        </p:nvSpPr>
        <p:spPr>
          <a:xfrm>
            <a:off x="3931920" y="2441448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chemeClr val="tx1"/>
                </a:solidFill>
              </a:rPr>
              <a:t>Investimentos e previdência:</a:t>
            </a:r>
            <a:r>
              <a:rPr lang="en-US" sz="1050" dirty="0">
                <a:solidFill>
                  <a:schemeClr val="tx2"/>
                </a:solidFill>
              </a:rPr>
              <a:t> reserva, patrimônio e redução futura de plantões.</a:t>
            </a:r>
            <a:endParaRPr lang="en-US" sz="1050" dirty="0"/>
          </a:p>
        </p:txBody>
      </p:sp>
      <p:sp>
        <p:nvSpPr>
          <p:cNvPr id="18" name="divisor-198"/>
          <p:cNvSpPr/>
          <p:nvPr/>
        </p:nvSpPr>
        <p:spPr>
          <a:xfrm>
            <a:off x="3520440" y="2845613"/>
            <a:ext cx="516636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9" name="texto-199"/>
          <p:cNvSpPr txBox="1"/>
          <p:nvPr/>
        </p:nvSpPr>
        <p:spPr>
          <a:xfrm>
            <a:off x="3520440" y="2845613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chemeClr val="accent2"/>
                </a:solidFill>
              </a:rPr>
              <a:t>02</a:t>
            </a:r>
            <a:endParaRPr lang="en-US" sz="900" dirty="0"/>
          </a:p>
        </p:txBody>
      </p:sp>
      <p:sp>
        <p:nvSpPr>
          <p:cNvPr id="20" name="topico-200"/>
          <p:cNvSpPr txBox="1"/>
          <p:nvPr/>
        </p:nvSpPr>
        <p:spPr>
          <a:xfrm>
            <a:off x="3931920" y="2873045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chemeClr val="tx1"/>
                </a:solidFill>
              </a:rPr>
              <a:t>Seguros:</a:t>
            </a:r>
            <a:r>
              <a:rPr lang="en-US" sz="1050" dirty="0">
                <a:solidFill>
                  <a:schemeClr val="tx2"/>
                </a:solidFill>
              </a:rPr>
              <a:t> proteção da renda, da família e da continuidade profissional.</a:t>
            </a:r>
            <a:endParaRPr lang="en-US" sz="1050" dirty="0"/>
          </a:p>
        </p:txBody>
      </p:sp>
      <p:sp>
        <p:nvSpPr>
          <p:cNvPr id="21" name="divisor-201"/>
          <p:cNvSpPr/>
          <p:nvPr/>
        </p:nvSpPr>
        <p:spPr>
          <a:xfrm>
            <a:off x="3520440" y="3277210"/>
            <a:ext cx="516636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2" name="texto-202"/>
          <p:cNvSpPr txBox="1"/>
          <p:nvPr/>
        </p:nvSpPr>
        <p:spPr>
          <a:xfrm>
            <a:off x="3520440" y="3277210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chemeClr val="accent2"/>
                </a:solidFill>
              </a:rPr>
              <a:t>03</a:t>
            </a:r>
            <a:endParaRPr lang="en-US" sz="900" dirty="0"/>
          </a:p>
        </p:txBody>
      </p:sp>
      <p:sp>
        <p:nvSpPr>
          <p:cNvPr id="23" name="topico-203"/>
          <p:cNvSpPr txBox="1"/>
          <p:nvPr/>
        </p:nvSpPr>
        <p:spPr>
          <a:xfrm>
            <a:off x="3931920" y="3304642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chemeClr val="tx1"/>
                </a:solidFill>
              </a:rPr>
              <a:t>Crédito e consórcio:</a:t>
            </a:r>
            <a:r>
              <a:rPr lang="en-US" sz="1050" dirty="0">
                <a:solidFill>
                  <a:schemeClr val="tx2"/>
                </a:solidFill>
              </a:rPr>
              <a:t> consultório, equipamentos e projetos, conforme prazo e perfil.</a:t>
            </a:r>
            <a:endParaRPr lang="en-US" sz="1050" dirty="0"/>
          </a:p>
        </p:txBody>
      </p:sp>
      <p:sp>
        <p:nvSpPr>
          <p:cNvPr id="24" name="divisor-204"/>
          <p:cNvSpPr/>
          <p:nvPr/>
        </p:nvSpPr>
        <p:spPr>
          <a:xfrm>
            <a:off x="3520440" y="3708806"/>
            <a:ext cx="516636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5" name="texto-205"/>
          <p:cNvSpPr txBox="1"/>
          <p:nvPr/>
        </p:nvSpPr>
        <p:spPr>
          <a:xfrm>
            <a:off x="3520440" y="3708806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chemeClr val="accent2"/>
                </a:solidFill>
              </a:rPr>
              <a:t>04</a:t>
            </a:r>
            <a:endParaRPr lang="en-US" sz="900" dirty="0"/>
          </a:p>
        </p:txBody>
      </p:sp>
      <p:sp>
        <p:nvSpPr>
          <p:cNvPr id="26" name="topico-206"/>
          <p:cNvSpPr txBox="1"/>
          <p:nvPr/>
        </p:nvSpPr>
        <p:spPr>
          <a:xfrm>
            <a:off x="3931920" y="3736238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chemeClr val="tx1"/>
                </a:solidFill>
              </a:rPr>
              <a:t>Soluções PF/PJ:</a:t>
            </a:r>
            <a:r>
              <a:rPr lang="en-US" sz="1050" dirty="0">
                <a:solidFill>
                  <a:schemeClr val="tx2"/>
                </a:solidFill>
              </a:rPr>
              <a:t> recebimentos, cobrança, cartões e organização do caixa.</a:t>
            </a:r>
            <a:endParaRPr lang="en-US" sz="1050" dirty="0"/>
          </a:p>
        </p:txBody>
      </p:sp>
      <p:sp>
        <p:nvSpPr>
          <p:cNvPr id="27" name="divisor-207"/>
          <p:cNvSpPr/>
          <p:nvPr/>
        </p:nvSpPr>
        <p:spPr>
          <a:xfrm>
            <a:off x="3520440" y="4140403"/>
            <a:ext cx="516636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8" name="texto-208"/>
          <p:cNvSpPr txBox="1"/>
          <p:nvPr/>
        </p:nvSpPr>
        <p:spPr>
          <a:xfrm>
            <a:off x="3520440" y="4140403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chemeClr val="accent2"/>
                </a:solidFill>
              </a:rPr>
              <a:t>05</a:t>
            </a:r>
            <a:endParaRPr lang="en-US" sz="900" dirty="0"/>
          </a:p>
        </p:txBody>
      </p:sp>
      <p:sp>
        <p:nvSpPr>
          <p:cNvPr id="29" name="topico-209"/>
          <p:cNvSpPr txBox="1"/>
          <p:nvPr/>
        </p:nvSpPr>
        <p:spPr>
          <a:xfrm>
            <a:off x="3931920" y="4167835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Reapresentar o mesmo produto, tratar objeções e avançar sem pressão indevida.</a:t>
            </a:r>
            <a:endParaRPr lang="en-US" sz="10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52044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2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-210"/>
          <p:cNvSpPr/>
          <p:nvPr/>
        </p:nvSpPr>
        <p:spPr>
          <a:xfrm>
            <a:off x="457200" y="379476"/>
            <a:ext cx="137160" cy="137160"/>
          </a:xfrm>
          <a:prstGeom prst="heptagon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" name="secao-211"/>
          <p:cNvSpPr txBox="1"/>
          <p:nvPr/>
        </p:nvSpPr>
        <p:spPr>
          <a:xfrm>
            <a:off x="676656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chemeClr val="accent2"/>
                </a:solidFill>
              </a:rPr>
              <a:t>O WORKSHOP</a:t>
            </a:r>
            <a:endParaRPr lang="en-US" sz="8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kern="0" spc="-60" dirty="0">
                <a:solidFill>
                  <a:schemeClr val="tx1"/>
                </a:solidFill>
              </a:rPr>
              <a:t>Revisitar produtos. </a:t>
            </a:r>
            <a:r>
              <a:rPr lang="en-US" sz="2600" kern="0" spc="-60" dirty="0">
                <a:solidFill>
                  <a:schemeClr val="tx1"/>
                </a:solidFill>
                <a:highlight>
                  <a:srgbClr val="C8F04A"/>
                </a:highlight>
              </a:rPr>
              <a:t>Mudar a conversa.</a:t>
            </a:r>
            <a:endParaRPr lang="en-US" sz="2600" dirty="0"/>
          </a:p>
        </p:txBody>
      </p:sp>
      <p:sp>
        <p:nvSpPr>
          <p:cNvPr id="5" name="texto-212"/>
          <p:cNvSpPr txBox="1"/>
          <p:nvPr/>
        </p:nvSpPr>
        <p:spPr>
          <a:xfrm>
            <a:off x="457200" y="113385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chemeClr val="accent2"/>
                </a:solidFill>
              </a:rPr>
              <a:t>(integração com a área de produtos)</a:t>
            </a:r>
            <a:endParaRPr lang="en-US" sz="1100" dirty="0"/>
          </a:p>
        </p:txBody>
      </p:sp>
      <p:sp>
        <p:nvSpPr>
          <p:cNvPr id="6" name="cartao-213"/>
          <p:cNvSpPr/>
          <p:nvPr/>
        </p:nvSpPr>
        <p:spPr>
          <a:xfrm>
            <a:off x="457200" y="1517904"/>
            <a:ext cx="3977640" cy="1417320"/>
          </a:xfrm>
          <a:prstGeom prst="roundRect">
            <a:avLst>
              <a:gd name="adj" fmla="val 10323"/>
            </a:avLst>
          </a:prstGeom>
          <a:solidFill>
            <a:schemeClr val="bg1"/>
          </a:solidFill>
          <a:ln/>
          <a:effectLst>
            <a:outerShdw blurRad="177800" dist="38100" dir="5400000" algn="bl" rotWithShape="0">
              <a:srgbClr val="0B1A1F">
                <a:alpha val="9000"/>
              </a:srgbClr>
            </a:outerShdw>
          </a:effectLst>
        </p:spPr>
      </p:sp>
      <p:sp>
        <p:nvSpPr>
          <p:cNvPr id="7" name="icone-fundo-214"/>
          <p:cNvSpPr/>
          <p:nvPr/>
        </p:nvSpPr>
        <p:spPr>
          <a:xfrm>
            <a:off x="685800" y="174650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e-21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856232"/>
            <a:ext cx="219456" cy="219456"/>
          </a:xfrm>
          <a:prstGeom prst="rect">
            <a:avLst/>
          </a:prstGeom>
        </p:spPr>
      </p:pic>
      <p:sp>
        <p:nvSpPr>
          <p:cNvPr id="9" name="produto-216"/>
          <p:cNvSpPr txBox="1"/>
          <p:nvPr/>
        </p:nvSpPr>
        <p:spPr>
          <a:xfrm>
            <a:off x="1280160" y="1700784"/>
            <a:ext cx="2953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Investimentos:</a:t>
            </a:r>
            <a:r>
              <a:rPr lang="en-US" sz="1200" dirty="0">
                <a:solidFill>
                  <a:schemeClr val="tx1"/>
                </a:solidFill>
              </a:rPr>
              <a:t> receita recebida, dinheiro com destino</a:t>
            </a:r>
            <a:endParaRPr lang="en-US" sz="1200" dirty="0"/>
          </a:p>
        </p:txBody>
      </p:sp>
      <p:sp>
        <p:nvSpPr>
          <p:cNvPr id="10" name="texto-217"/>
          <p:cNvSpPr txBox="1"/>
          <p:nvPr/>
        </p:nvSpPr>
        <p:spPr>
          <a:xfrm>
            <a:off x="1280160" y="2231136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Investigar compromissos, reserva e projetos. Para quem recebe de fontes diferentes, discutir liquidez e organização dos recursos.</a:t>
            </a:r>
            <a:endParaRPr lang="en-US" sz="1050" dirty="0"/>
          </a:p>
        </p:txBody>
      </p:sp>
      <p:sp>
        <p:nvSpPr>
          <p:cNvPr id="11" name="cartao-218"/>
          <p:cNvSpPr/>
          <p:nvPr/>
        </p:nvSpPr>
        <p:spPr>
          <a:xfrm>
            <a:off x="4709160" y="1517904"/>
            <a:ext cx="3977640" cy="1417320"/>
          </a:xfrm>
          <a:prstGeom prst="roundRect">
            <a:avLst>
              <a:gd name="adj" fmla="val 10323"/>
            </a:avLst>
          </a:prstGeom>
          <a:solidFill>
            <a:schemeClr val="bg1"/>
          </a:solidFill>
          <a:ln/>
          <a:effectLst>
            <a:outerShdw blurRad="177800" dist="38100" dir="5400000" algn="bl" rotWithShape="0">
              <a:srgbClr val="0B1A1F">
                <a:alpha val="9000"/>
              </a:srgbClr>
            </a:outerShdw>
          </a:effectLst>
        </p:spPr>
      </p:sp>
      <p:sp>
        <p:nvSpPr>
          <p:cNvPr id="12" name="icone-fundo-219"/>
          <p:cNvSpPr/>
          <p:nvPr/>
        </p:nvSpPr>
        <p:spPr>
          <a:xfrm>
            <a:off x="4937760" y="174650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e-22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856232"/>
            <a:ext cx="219456" cy="219456"/>
          </a:xfrm>
          <a:prstGeom prst="rect">
            <a:avLst/>
          </a:prstGeom>
        </p:spPr>
      </p:pic>
      <p:sp>
        <p:nvSpPr>
          <p:cNvPr id="14" name="produto-221"/>
          <p:cNvSpPr txBox="1"/>
          <p:nvPr/>
        </p:nvSpPr>
        <p:spPr>
          <a:xfrm>
            <a:off x="5532120" y="1700784"/>
            <a:ext cx="2953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Seguro:</a:t>
            </a:r>
            <a:r>
              <a:rPr lang="en-US" sz="1200" dirty="0">
                <a:solidFill>
                  <a:schemeClr val="tx1"/>
                </a:solidFill>
              </a:rPr>
              <a:t> a renda depende da presença no trabalho?</a:t>
            </a:r>
            <a:endParaRPr lang="en-US" sz="1200" dirty="0"/>
          </a:p>
        </p:txBody>
      </p:sp>
      <p:sp>
        <p:nvSpPr>
          <p:cNvPr id="15" name="texto-222"/>
          <p:cNvSpPr txBox="1"/>
          <p:nvPr/>
        </p:nvSpPr>
        <p:spPr>
          <a:xfrm>
            <a:off x="5532120" y="2231136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Entender o impacto de um afastamento na família e no consultório. Avaliar proteção compatível, coberturas e condições.</a:t>
            </a:r>
            <a:endParaRPr lang="en-US" sz="1050" dirty="0"/>
          </a:p>
        </p:txBody>
      </p:sp>
      <p:sp>
        <p:nvSpPr>
          <p:cNvPr id="16" name="cartao-223"/>
          <p:cNvSpPr/>
          <p:nvPr/>
        </p:nvSpPr>
        <p:spPr>
          <a:xfrm>
            <a:off x="457200" y="3118104"/>
            <a:ext cx="3977640" cy="1417320"/>
          </a:xfrm>
          <a:prstGeom prst="roundRect">
            <a:avLst>
              <a:gd name="adj" fmla="val 10323"/>
            </a:avLst>
          </a:prstGeom>
          <a:solidFill>
            <a:schemeClr val="bg1"/>
          </a:solidFill>
          <a:ln/>
          <a:effectLst>
            <a:outerShdw blurRad="177800" dist="38100" dir="5400000" algn="bl" rotWithShape="0">
              <a:srgbClr val="0B1A1F">
                <a:alpha val="9000"/>
              </a:srgbClr>
            </a:outerShdw>
          </a:effectLst>
        </p:spPr>
      </p:sp>
      <p:sp>
        <p:nvSpPr>
          <p:cNvPr id="17" name="icone-fundo-224"/>
          <p:cNvSpPr/>
          <p:nvPr/>
        </p:nvSpPr>
        <p:spPr>
          <a:xfrm>
            <a:off x="685800" y="334670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e-22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3456432"/>
            <a:ext cx="219456" cy="219456"/>
          </a:xfrm>
          <a:prstGeom prst="rect">
            <a:avLst/>
          </a:prstGeom>
        </p:spPr>
      </p:pic>
      <p:sp>
        <p:nvSpPr>
          <p:cNvPr id="19" name="produto-226"/>
          <p:cNvSpPr txBox="1"/>
          <p:nvPr/>
        </p:nvSpPr>
        <p:spPr>
          <a:xfrm>
            <a:off x="1280160" y="3300984"/>
            <a:ext cx="2953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Crédito:</a:t>
            </a:r>
            <a:r>
              <a:rPr lang="en-US" sz="1200" dirty="0">
                <a:solidFill>
                  <a:schemeClr val="tx1"/>
                </a:solidFill>
              </a:rPr>
              <a:t> o equipamento cabe no projeto e no caixa?</a:t>
            </a:r>
            <a:endParaRPr lang="en-US" sz="1200" dirty="0"/>
          </a:p>
        </p:txBody>
      </p:sp>
      <p:sp>
        <p:nvSpPr>
          <p:cNvPr id="20" name="texto-227"/>
          <p:cNvSpPr txBox="1"/>
          <p:nvPr/>
        </p:nvSpPr>
        <p:spPr>
          <a:xfrm>
            <a:off x="1280160" y="3831336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Explorar finalidade, prazo, receita esperada e capacidade de pagamento. Explicar o custo total e comparar alternativas adequadas.</a:t>
            </a:r>
            <a:endParaRPr lang="en-US" sz="1050" dirty="0"/>
          </a:p>
        </p:txBody>
      </p:sp>
      <p:sp>
        <p:nvSpPr>
          <p:cNvPr id="21" name="cartao-228"/>
          <p:cNvSpPr/>
          <p:nvPr/>
        </p:nvSpPr>
        <p:spPr>
          <a:xfrm>
            <a:off x="4709160" y="3118104"/>
            <a:ext cx="3977640" cy="1417320"/>
          </a:xfrm>
          <a:prstGeom prst="roundRect">
            <a:avLst>
              <a:gd name="adj" fmla="val 10323"/>
            </a:avLst>
          </a:prstGeom>
          <a:solidFill>
            <a:schemeClr val="bg1"/>
          </a:solidFill>
          <a:ln/>
          <a:effectLst>
            <a:outerShdw blurRad="177800" dist="38100" dir="5400000" algn="bl" rotWithShape="0">
              <a:srgbClr val="0B1A1F">
                <a:alpha val="9000"/>
              </a:srgbClr>
            </a:outerShdw>
          </a:effectLst>
        </p:spPr>
      </p:sp>
      <p:sp>
        <p:nvSpPr>
          <p:cNvPr id="22" name="icone-fundo-229"/>
          <p:cNvSpPr/>
          <p:nvPr/>
        </p:nvSpPr>
        <p:spPr>
          <a:xfrm>
            <a:off x="4937760" y="334670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cone-23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3456432"/>
            <a:ext cx="219456" cy="219456"/>
          </a:xfrm>
          <a:prstGeom prst="rect">
            <a:avLst/>
          </a:prstGeom>
        </p:spPr>
      </p:pic>
      <p:sp>
        <p:nvSpPr>
          <p:cNvPr id="24" name="produto-231"/>
          <p:cNvSpPr txBox="1"/>
          <p:nvPr/>
        </p:nvSpPr>
        <p:spPr>
          <a:xfrm>
            <a:off x="5532120" y="3300984"/>
            <a:ext cx="2953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Previdência:</a:t>
            </a:r>
            <a:r>
              <a:rPr lang="en-US" sz="1200" dirty="0">
                <a:solidFill>
                  <a:schemeClr val="tx1"/>
                </a:solidFill>
              </a:rPr>
              <a:t> como preparar a redução dos plantões?</a:t>
            </a:r>
            <a:endParaRPr lang="en-US" sz="1200" dirty="0"/>
          </a:p>
        </p:txBody>
      </p:sp>
      <p:sp>
        <p:nvSpPr>
          <p:cNvPr id="25" name="texto-232"/>
          <p:cNvSpPr txBox="1"/>
          <p:nvPr/>
        </p:nvSpPr>
        <p:spPr>
          <a:xfrm>
            <a:off x="5532120" y="3831336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Conectar a conversa ao ritmo de trabalho desejado, ao horizonte e à renda futura. Avaliar contribuições e condições do plano.</a:t>
            </a:r>
            <a:endParaRPr lang="en-US" sz="10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2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233"/>
          <p:cNvSpPr txBox="1"/>
          <p:nvPr/>
        </p:nvSpPr>
        <p:spPr>
          <a:xfrm>
            <a:off x="658368" y="6217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chemeClr val="tx1"/>
                </a:solidFill>
              </a:rPr>
              <a:t>PILAR</a:t>
            </a:r>
            <a:endParaRPr lang="en-US" sz="800" dirty="0"/>
          </a:p>
        </p:txBody>
      </p:sp>
      <p:sp>
        <p:nvSpPr>
          <p:cNvPr id="3" name="texto-234"/>
          <p:cNvSpPr txBox="1"/>
          <p:nvPr/>
        </p:nvSpPr>
        <p:spPr>
          <a:xfrm>
            <a:off x="640080" y="80467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5400" kern="0" spc="-2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5400" dirty="0"/>
          </a:p>
        </p:txBody>
      </p:sp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58368" y="1700784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200" kern="0" spc="-50" dirty="0">
                <a:solidFill>
                  <a:schemeClr val="tx1"/>
                </a:solidFill>
              </a:rPr>
              <a:t>Accountability e relacionamento</a:t>
            </a:r>
            <a:endParaRPr lang="en-US" sz="2200" dirty="0"/>
          </a:p>
        </p:txBody>
      </p:sp>
      <p:sp>
        <p:nvSpPr>
          <p:cNvPr id="5" name="texto-235"/>
          <p:cNvSpPr txBox="1"/>
          <p:nvPr/>
        </p:nvSpPr>
        <p:spPr>
          <a:xfrm>
            <a:off x="658368" y="301752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A confiança continua depois da conversa.</a:t>
            </a:r>
            <a:endParaRPr lang="en-US" sz="1150" dirty="0"/>
          </a:p>
        </p:txBody>
      </p:sp>
      <p:sp>
        <p:nvSpPr>
          <p:cNvPr id="6" name="selo-236"/>
          <p:cNvSpPr/>
          <p:nvPr/>
        </p:nvSpPr>
        <p:spPr>
          <a:xfrm>
            <a:off x="658368" y="4160520"/>
            <a:ext cx="1667764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7" name="selo-texto-237"/>
          <p:cNvSpPr txBox="1"/>
          <p:nvPr/>
        </p:nvSpPr>
        <p:spPr>
          <a:xfrm>
            <a:off x="658368" y="4160520"/>
            <a:ext cx="16677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chemeClr val="accent1"/>
                </a:solidFill>
              </a:rPr>
              <a:t>Tarde  •  2 horas</a:t>
            </a:r>
            <a:endParaRPr lang="en-US" sz="950" dirty="0"/>
          </a:p>
        </p:txBody>
      </p:sp>
      <p:sp>
        <p:nvSpPr>
          <p:cNvPr id="8" name="cartao-238"/>
          <p:cNvSpPr/>
          <p:nvPr/>
        </p:nvSpPr>
        <p:spPr>
          <a:xfrm>
            <a:off x="3520440" y="457200"/>
            <a:ext cx="2468880" cy="1481328"/>
          </a:xfrm>
          <a:prstGeom prst="roundRect">
            <a:avLst>
              <a:gd name="adj" fmla="val 9877"/>
            </a:avLst>
          </a:prstGeom>
          <a:solidFill>
            <a:schemeClr val="bg1"/>
          </a:solidFill>
          <a:ln/>
          <a:effectLst>
            <a:outerShdw blurRad="177800" dist="38100" dir="5400000" algn="bl" rotWithShape="0">
              <a:srgbClr val="0B1A1F">
                <a:alpha val="9000"/>
              </a:srgbClr>
            </a:outerShdw>
          </a:effectLst>
        </p:spPr>
      </p:sp>
      <p:sp>
        <p:nvSpPr>
          <p:cNvPr id="9" name="etiqueta-239"/>
          <p:cNvSpPr txBox="1"/>
          <p:nvPr/>
        </p:nvSpPr>
        <p:spPr>
          <a:xfrm>
            <a:off x="3721608" y="62179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chemeClr val="accent2"/>
                </a:solidFill>
              </a:rPr>
              <a:t>OBJETIVO</a:t>
            </a:r>
            <a:endParaRPr lang="en-US" sz="800" dirty="0"/>
          </a:p>
        </p:txBody>
      </p:sp>
      <p:sp>
        <p:nvSpPr>
          <p:cNvPr id="10" name="texto-240"/>
          <p:cNvSpPr txBox="1"/>
          <p:nvPr/>
        </p:nvSpPr>
        <p:spPr>
          <a:xfrm>
            <a:off x="3721608" y="896112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Assumir a condução das demandas, combinar prazos viáveis e acompanhar cada oportunidade até o próximo passo.</a:t>
            </a:r>
            <a:endParaRPr lang="en-US" sz="1050" dirty="0"/>
          </a:p>
        </p:txBody>
      </p:sp>
      <p:sp>
        <p:nvSpPr>
          <p:cNvPr id="11" name="cartao-241"/>
          <p:cNvSpPr/>
          <p:nvPr/>
        </p:nvSpPr>
        <p:spPr>
          <a:xfrm>
            <a:off x="6217920" y="457200"/>
            <a:ext cx="2468880" cy="1481328"/>
          </a:xfrm>
          <a:prstGeom prst="roundRect">
            <a:avLst>
              <a:gd name="adj" fmla="val 9877"/>
            </a:avLst>
          </a:prstGeom>
          <a:solidFill>
            <a:schemeClr val="tx1"/>
          </a:solidFill>
          <a:ln/>
        </p:spPr>
      </p:sp>
      <p:sp>
        <p:nvSpPr>
          <p:cNvPr id="12" name="etiqueta-242"/>
          <p:cNvSpPr txBox="1"/>
          <p:nvPr/>
        </p:nvSpPr>
        <p:spPr>
          <a:xfrm>
            <a:off x="6419088" y="62179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chemeClr val="accent1"/>
                </a:solidFill>
              </a:rPr>
              <a:t>ENTREGA PRÁTICA</a:t>
            </a:r>
            <a:endParaRPr lang="en-US" sz="800" dirty="0"/>
          </a:p>
        </p:txBody>
      </p:sp>
      <p:sp>
        <p:nvSpPr>
          <p:cNvPr id="13" name="texto-243"/>
          <p:cNvSpPr txBox="1"/>
          <p:nvPr/>
        </p:nvSpPr>
        <p:spPr>
          <a:xfrm>
            <a:off x="6419088" y="896112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bg1"/>
                </a:solidFill>
              </a:rPr>
              <a:t>Plano individual de 30 dias com três cooperados prioritários, ações, prazos e evidências de avanço.</a:t>
            </a:r>
            <a:endParaRPr lang="en-US" sz="1050" dirty="0"/>
          </a:p>
        </p:txBody>
      </p:sp>
      <p:sp>
        <p:nvSpPr>
          <p:cNvPr id="14" name="etiqueta-244"/>
          <p:cNvSpPr txBox="1"/>
          <p:nvPr/>
        </p:nvSpPr>
        <p:spPr>
          <a:xfrm>
            <a:off x="3520440" y="2157984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chemeClr val="accent2"/>
                </a:solidFill>
              </a:rPr>
              <a:t>TÓPICOS ABORDADOS</a:t>
            </a:r>
            <a:endParaRPr lang="en-US" sz="800" dirty="0"/>
          </a:p>
        </p:txBody>
      </p:sp>
      <p:sp>
        <p:nvSpPr>
          <p:cNvPr id="15" name="divisor-245"/>
          <p:cNvSpPr/>
          <p:nvPr/>
        </p:nvSpPr>
        <p:spPr>
          <a:xfrm>
            <a:off x="3520440" y="2414016"/>
            <a:ext cx="516636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6" name="texto-246"/>
          <p:cNvSpPr txBox="1"/>
          <p:nvPr/>
        </p:nvSpPr>
        <p:spPr>
          <a:xfrm>
            <a:off x="3520440" y="2414016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chemeClr val="accent2"/>
                </a:solidFill>
              </a:rPr>
              <a:t>01</a:t>
            </a:r>
            <a:endParaRPr lang="en-US" sz="900" dirty="0"/>
          </a:p>
        </p:txBody>
      </p:sp>
      <p:sp>
        <p:nvSpPr>
          <p:cNvPr id="17" name="topico-247"/>
          <p:cNvSpPr txBox="1"/>
          <p:nvPr/>
        </p:nvSpPr>
        <p:spPr>
          <a:xfrm>
            <a:off x="3931920" y="2441448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chemeClr val="tx1"/>
                </a:solidFill>
              </a:rPr>
              <a:t>Timing:</a:t>
            </a:r>
            <a:r>
              <a:rPr lang="en-US" sz="1050" dirty="0">
                <a:solidFill>
                  <a:schemeClr val="tx2"/>
                </a:solidFill>
              </a:rPr>
              <a:t> confirmar recebimento, atualizar andamento e entregar a solução.</a:t>
            </a:r>
            <a:endParaRPr lang="en-US" sz="1050" dirty="0"/>
          </a:p>
        </p:txBody>
      </p:sp>
      <p:sp>
        <p:nvSpPr>
          <p:cNvPr id="18" name="divisor-248"/>
          <p:cNvSpPr/>
          <p:nvPr/>
        </p:nvSpPr>
        <p:spPr>
          <a:xfrm>
            <a:off x="3520440" y="2845613"/>
            <a:ext cx="516636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9" name="texto-249"/>
          <p:cNvSpPr txBox="1"/>
          <p:nvPr/>
        </p:nvSpPr>
        <p:spPr>
          <a:xfrm>
            <a:off x="3520440" y="2845613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chemeClr val="accent2"/>
                </a:solidFill>
              </a:rPr>
              <a:t>02</a:t>
            </a:r>
            <a:endParaRPr lang="en-US" sz="900" dirty="0"/>
          </a:p>
        </p:txBody>
      </p:sp>
      <p:sp>
        <p:nvSpPr>
          <p:cNvPr id="20" name="topico-250"/>
          <p:cNvSpPr txBox="1"/>
          <p:nvPr/>
        </p:nvSpPr>
        <p:spPr>
          <a:xfrm>
            <a:off x="3931920" y="2873045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chemeClr val="tx1"/>
                </a:solidFill>
              </a:rPr>
              <a:t>Retorno proativo:</a:t>
            </a:r>
            <a:r>
              <a:rPr lang="en-US" sz="1050" dirty="0">
                <a:solidFill>
                  <a:schemeClr val="tx2"/>
                </a:solidFill>
              </a:rPr>
              <a:t> informar antes da cobrança e renegociar prazos quando necessário.</a:t>
            </a:r>
            <a:endParaRPr lang="en-US" sz="1050" dirty="0"/>
          </a:p>
        </p:txBody>
      </p:sp>
      <p:sp>
        <p:nvSpPr>
          <p:cNvPr id="21" name="divisor-251"/>
          <p:cNvSpPr/>
          <p:nvPr/>
        </p:nvSpPr>
        <p:spPr>
          <a:xfrm>
            <a:off x="3520440" y="3277210"/>
            <a:ext cx="516636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2" name="texto-252"/>
          <p:cNvSpPr txBox="1"/>
          <p:nvPr/>
        </p:nvSpPr>
        <p:spPr>
          <a:xfrm>
            <a:off x="3520440" y="3277210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chemeClr val="accent2"/>
                </a:solidFill>
              </a:rPr>
              <a:t>03</a:t>
            </a:r>
            <a:endParaRPr lang="en-US" sz="900" dirty="0"/>
          </a:p>
        </p:txBody>
      </p:sp>
      <p:sp>
        <p:nvSpPr>
          <p:cNvPr id="23" name="topico-253"/>
          <p:cNvSpPr txBox="1"/>
          <p:nvPr/>
        </p:nvSpPr>
        <p:spPr>
          <a:xfrm>
            <a:off x="3931920" y="3304642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chemeClr val="tx1"/>
                </a:solidFill>
              </a:rPr>
              <a:t>Áreas internas e continuidade:</a:t>
            </a:r>
            <a:r>
              <a:rPr lang="en-US" sz="1050" dirty="0">
                <a:solidFill>
                  <a:schemeClr val="tx2"/>
                </a:solidFill>
              </a:rPr>
              <a:t> encaminhar, registrar e acompanhar a conclusão.</a:t>
            </a:r>
            <a:endParaRPr lang="en-US" sz="1050" dirty="0"/>
          </a:p>
        </p:txBody>
      </p:sp>
      <p:sp>
        <p:nvSpPr>
          <p:cNvPr id="24" name="divisor-254"/>
          <p:cNvSpPr/>
          <p:nvPr/>
        </p:nvSpPr>
        <p:spPr>
          <a:xfrm>
            <a:off x="3520440" y="3708806"/>
            <a:ext cx="516636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5" name="texto-255"/>
          <p:cNvSpPr txBox="1"/>
          <p:nvPr/>
        </p:nvSpPr>
        <p:spPr>
          <a:xfrm>
            <a:off x="3520440" y="3708806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chemeClr val="accent2"/>
                </a:solidFill>
              </a:rPr>
              <a:t>04</a:t>
            </a:r>
            <a:endParaRPr lang="en-US" sz="900" dirty="0"/>
          </a:p>
        </p:txBody>
      </p:sp>
      <p:sp>
        <p:nvSpPr>
          <p:cNvPr id="26" name="topico-256"/>
          <p:cNvSpPr txBox="1"/>
          <p:nvPr/>
        </p:nvSpPr>
        <p:spPr>
          <a:xfrm>
            <a:off x="3931920" y="3736238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Agenda comercial e acompanhamento de propostas com próximos passos definidos.</a:t>
            </a:r>
            <a:endParaRPr lang="en-US" sz="1050" dirty="0"/>
          </a:p>
        </p:txBody>
      </p:sp>
      <p:sp>
        <p:nvSpPr>
          <p:cNvPr id="27" name="divisor-257"/>
          <p:cNvSpPr/>
          <p:nvPr/>
        </p:nvSpPr>
        <p:spPr>
          <a:xfrm>
            <a:off x="3520440" y="4140403"/>
            <a:ext cx="516636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8" name="texto-258"/>
          <p:cNvSpPr txBox="1"/>
          <p:nvPr/>
        </p:nvSpPr>
        <p:spPr>
          <a:xfrm>
            <a:off x="3520440" y="4140403"/>
            <a:ext cx="36576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chemeClr val="accent2"/>
                </a:solidFill>
              </a:rPr>
              <a:t>05</a:t>
            </a:r>
            <a:endParaRPr lang="en-US" sz="900" dirty="0"/>
          </a:p>
        </p:txBody>
      </p:sp>
      <p:sp>
        <p:nvSpPr>
          <p:cNvPr id="29" name="topico-259"/>
          <p:cNvSpPr txBox="1"/>
          <p:nvPr/>
        </p:nvSpPr>
        <p:spPr>
          <a:xfrm>
            <a:off x="3931920" y="4167835"/>
            <a:ext cx="4754880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Caso “A proposta chegou tarde” e plano individual de aplicação na carteira.</a:t>
            </a:r>
            <a:endParaRPr lang="en-US" sz="10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52044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2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-260"/>
          <p:cNvSpPr/>
          <p:nvPr/>
        </p:nvSpPr>
        <p:spPr>
          <a:xfrm>
            <a:off x="457200" y="379476"/>
            <a:ext cx="137160" cy="137160"/>
          </a:xfrm>
          <a:prstGeom prst="heptagon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" name="secao-261"/>
          <p:cNvSpPr txBox="1"/>
          <p:nvPr/>
        </p:nvSpPr>
        <p:spPr>
          <a:xfrm>
            <a:off x="676656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chemeClr val="accent2"/>
                </a:solidFill>
              </a:rPr>
              <a:t>O WORKSHOP</a:t>
            </a:r>
            <a:endParaRPr lang="en-US" sz="8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kern="0" spc="-60" dirty="0">
                <a:solidFill>
                  <a:schemeClr val="tx1"/>
                </a:solidFill>
              </a:rPr>
              <a:t>Uma experiência </a:t>
            </a:r>
            <a:r>
              <a:rPr lang="en-US" sz="2600" kern="0" spc="-60" dirty="0">
                <a:solidFill>
                  <a:schemeClr val="tx1"/>
                </a:solidFill>
                <a:highlight>
                  <a:srgbClr val="C8F04A"/>
                </a:highlight>
              </a:rPr>
              <a:t>dinâmica e aplicada</a:t>
            </a:r>
            <a:endParaRPr lang="en-US" sz="2600" dirty="0"/>
          </a:p>
        </p:txBody>
      </p:sp>
      <p:sp>
        <p:nvSpPr>
          <p:cNvPr id="5" name="cartao-262"/>
          <p:cNvSpPr/>
          <p:nvPr/>
        </p:nvSpPr>
        <p:spPr>
          <a:xfrm>
            <a:off x="457200" y="1371600"/>
            <a:ext cx="1906524" cy="3063240"/>
          </a:xfrm>
          <a:prstGeom prst="roundRect">
            <a:avLst>
              <a:gd name="adj" fmla="val 7674"/>
            </a:avLst>
          </a:prstGeom>
          <a:solidFill>
            <a:schemeClr val="bg1"/>
          </a:solidFill>
          <a:ln/>
          <a:effectLst>
            <a:outerShdw blurRad="177800" dist="38100" dir="5400000" algn="bl" rotWithShape="0">
              <a:srgbClr val="0B1A1F">
                <a:alpha val="9000"/>
              </a:srgbClr>
            </a:outerShdw>
          </a:effectLst>
        </p:spPr>
      </p:sp>
      <p:sp>
        <p:nvSpPr>
          <p:cNvPr id="6" name="icone-fundo-263"/>
          <p:cNvSpPr/>
          <p:nvPr/>
        </p:nvSpPr>
        <p:spPr>
          <a:xfrm>
            <a:off x="676656" y="1609344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e-26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737360"/>
            <a:ext cx="256032" cy="256032"/>
          </a:xfrm>
          <a:prstGeom prst="rect">
            <a:avLst/>
          </a:prstGeom>
        </p:spPr>
      </p:pic>
      <p:sp>
        <p:nvSpPr>
          <p:cNvPr id="8" name="texto-265"/>
          <p:cNvSpPr txBox="1"/>
          <p:nvPr/>
        </p:nvSpPr>
        <p:spPr>
          <a:xfrm>
            <a:off x="1796796" y="1645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b="1" dirty="0">
                <a:solidFill>
                  <a:schemeClr val="accent2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o-266"/>
          <p:cNvSpPr txBox="1"/>
          <p:nvPr/>
        </p:nvSpPr>
        <p:spPr>
          <a:xfrm>
            <a:off x="676656" y="2286000"/>
            <a:ext cx="14950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35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Casos da carteira branca</a:t>
            </a:r>
            <a:endParaRPr lang="en-US" sz="1350" dirty="0"/>
          </a:p>
        </p:txBody>
      </p:sp>
      <p:sp>
        <p:nvSpPr>
          <p:cNvPr id="10" name="texto-267"/>
          <p:cNvSpPr txBox="1"/>
          <p:nvPr/>
        </p:nvSpPr>
        <p:spPr>
          <a:xfrm>
            <a:off x="676656" y="2999232"/>
            <a:ext cx="14950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Médica entre plantões e consultório; dentista planejando expansão; enfermeira gestora organizando patrimônio e futuro.</a:t>
            </a:r>
            <a:endParaRPr lang="en-US" sz="1050" dirty="0"/>
          </a:p>
        </p:txBody>
      </p:sp>
      <p:sp>
        <p:nvSpPr>
          <p:cNvPr id="11" name="cartao-268"/>
          <p:cNvSpPr/>
          <p:nvPr/>
        </p:nvSpPr>
        <p:spPr>
          <a:xfrm>
            <a:off x="2564892" y="1371600"/>
            <a:ext cx="1906524" cy="3063240"/>
          </a:xfrm>
          <a:prstGeom prst="roundRect">
            <a:avLst>
              <a:gd name="adj" fmla="val 7674"/>
            </a:avLst>
          </a:prstGeom>
          <a:solidFill>
            <a:schemeClr val="bg1"/>
          </a:solidFill>
          <a:ln/>
          <a:effectLst>
            <a:outerShdw blurRad="177800" dist="38100" dir="5400000" algn="bl" rotWithShape="0">
              <a:srgbClr val="0B1A1F">
                <a:alpha val="9000"/>
              </a:srgbClr>
            </a:outerShdw>
          </a:effectLst>
        </p:spPr>
      </p:sp>
      <p:sp>
        <p:nvSpPr>
          <p:cNvPr id="12" name="icone-fundo-269"/>
          <p:cNvSpPr/>
          <p:nvPr/>
        </p:nvSpPr>
        <p:spPr>
          <a:xfrm>
            <a:off x="2784348" y="1609344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e-27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364" y="1737360"/>
            <a:ext cx="256032" cy="256032"/>
          </a:xfrm>
          <a:prstGeom prst="rect">
            <a:avLst/>
          </a:prstGeom>
        </p:spPr>
      </p:pic>
      <p:sp>
        <p:nvSpPr>
          <p:cNvPr id="14" name="texto-271"/>
          <p:cNvSpPr txBox="1"/>
          <p:nvPr/>
        </p:nvSpPr>
        <p:spPr>
          <a:xfrm>
            <a:off x="3904488" y="1645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b="1" dirty="0">
                <a:solidFill>
                  <a:schemeClr val="accent2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o-272"/>
          <p:cNvSpPr txBox="1"/>
          <p:nvPr/>
        </p:nvSpPr>
        <p:spPr>
          <a:xfrm>
            <a:off x="2784348" y="2286000"/>
            <a:ext cx="14950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35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Simulações e discussão em grupo</a:t>
            </a:r>
            <a:endParaRPr lang="en-US" sz="1350" dirty="0"/>
          </a:p>
        </p:txBody>
      </p:sp>
      <p:sp>
        <p:nvSpPr>
          <p:cNvPr id="16" name="texto-273"/>
          <p:cNvSpPr txBox="1"/>
          <p:nvPr/>
        </p:nvSpPr>
        <p:spPr>
          <a:xfrm>
            <a:off x="2784348" y="2999232"/>
            <a:ext cx="14950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Conversas com secretária e cooperado, revisão de mensagens, objeções e propostas de valor, com critérios de observação.</a:t>
            </a:r>
            <a:endParaRPr lang="en-US" sz="1050" dirty="0"/>
          </a:p>
        </p:txBody>
      </p:sp>
      <p:sp>
        <p:nvSpPr>
          <p:cNvPr id="17" name="cartao-274"/>
          <p:cNvSpPr/>
          <p:nvPr/>
        </p:nvSpPr>
        <p:spPr>
          <a:xfrm>
            <a:off x="4672584" y="1371600"/>
            <a:ext cx="1906524" cy="3063240"/>
          </a:xfrm>
          <a:prstGeom prst="roundRect">
            <a:avLst>
              <a:gd name="adj" fmla="val 7674"/>
            </a:avLst>
          </a:prstGeom>
          <a:solidFill>
            <a:schemeClr val="bg1"/>
          </a:solidFill>
          <a:ln/>
          <a:effectLst>
            <a:outerShdw blurRad="177800" dist="38100" dir="5400000" algn="bl" rotWithShape="0">
              <a:srgbClr val="0B1A1F">
                <a:alpha val="9000"/>
              </a:srgbClr>
            </a:outerShdw>
          </a:effectLst>
        </p:spPr>
      </p:sp>
      <p:sp>
        <p:nvSpPr>
          <p:cNvPr id="18" name="icone-fundo-275"/>
          <p:cNvSpPr/>
          <p:nvPr/>
        </p:nvSpPr>
        <p:spPr>
          <a:xfrm>
            <a:off x="4892040" y="1609344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cone-27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056" y="1737360"/>
            <a:ext cx="256032" cy="256032"/>
          </a:xfrm>
          <a:prstGeom prst="rect">
            <a:avLst/>
          </a:prstGeom>
        </p:spPr>
      </p:pic>
      <p:sp>
        <p:nvSpPr>
          <p:cNvPr id="20" name="texto-277"/>
          <p:cNvSpPr txBox="1"/>
          <p:nvPr/>
        </p:nvSpPr>
        <p:spPr>
          <a:xfrm>
            <a:off x="6012180" y="1645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b="1" dirty="0">
                <a:solidFill>
                  <a:schemeClr val="accent2"/>
                </a:solidFill>
              </a:rPr>
              <a:t>03</a:t>
            </a:r>
            <a:endParaRPr lang="en-US" sz="1000" dirty="0"/>
          </a:p>
        </p:txBody>
      </p:sp>
      <p:sp>
        <p:nvSpPr>
          <p:cNvPr id="21" name="texto-278"/>
          <p:cNvSpPr txBox="1"/>
          <p:nvPr/>
        </p:nvSpPr>
        <p:spPr>
          <a:xfrm>
            <a:off x="4892040" y="2286000"/>
            <a:ext cx="14950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35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Momentos individuais de análise</a:t>
            </a:r>
            <a:endParaRPr lang="en-US" sz="1350" dirty="0"/>
          </a:p>
        </p:txBody>
      </p:sp>
      <p:sp>
        <p:nvSpPr>
          <p:cNvPr id="22" name="texto-279"/>
          <p:cNvSpPr txBox="1"/>
          <p:nvPr/>
        </p:nvSpPr>
        <p:spPr>
          <a:xfrm>
            <a:off x="4892040" y="2999232"/>
            <a:ext cx="14950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Leitura da própria carteira, revisão da postura e identificação de comportamentos e oportunidades que precisam de atenção.</a:t>
            </a:r>
            <a:endParaRPr lang="en-US" sz="1050" dirty="0"/>
          </a:p>
        </p:txBody>
      </p:sp>
      <p:sp>
        <p:nvSpPr>
          <p:cNvPr id="23" name="cartao-280"/>
          <p:cNvSpPr/>
          <p:nvPr/>
        </p:nvSpPr>
        <p:spPr>
          <a:xfrm>
            <a:off x="6780276" y="1371600"/>
            <a:ext cx="1906524" cy="3063240"/>
          </a:xfrm>
          <a:prstGeom prst="roundRect">
            <a:avLst>
              <a:gd name="adj" fmla="val 7674"/>
            </a:avLst>
          </a:prstGeom>
          <a:solidFill>
            <a:schemeClr val="accent1"/>
          </a:solidFill>
          <a:ln/>
        </p:spPr>
      </p:sp>
      <p:sp>
        <p:nvSpPr>
          <p:cNvPr id="24" name="icone-fundo-281"/>
          <p:cNvSpPr/>
          <p:nvPr/>
        </p:nvSpPr>
        <p:spPr>
          <a:xfrm>
            <a:off x="6999732" y="1609344"/>
            <a:ext cx="512064" cy="512064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5" name="icone-28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7748" y="1737360"/>
            <a:ext cx="256032" cy="256032"/>
          </a:xfrm>
          <a:prstGeom prst="rect">
            <a:avLst/>
          </a:prstGeom>
        </p:spPr>
      </p:pic>
      <p:sp>
        <p:nvSpPr>
          <p:cNvPr id="26" name="texto-283"/>
          <p:cNvSpPr txBox="1"/>
          <p:nvPr/>
        </p:nvSpPr>
        <p:spPr>
          <a:xfrm>
            <a:off x="8119872" y="1645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b="1" dirty="0">
                <a:solidFill>
                  <a:schemeClr val="tx1"/>
                </a:solidFill>
              </a:rPr>
              <a:t>04</a:t>
            </a:r>
            <a:endParaRPr lang="en-US" sz="1000" dirty="0"/>
          </a:p>
        </p:txBody>
      </p:sp>
      <p:sp>
        <p:nvSpPr>
          <p:cNvPr id="27" name="texto-284"/>
          <p:cNvSpPr txBox="1"/>
          <p:nvPr/>
        </p:nvSpPr>
        <p:spPr>
          <a:xfrm>
            <a:off x="6999732" y="2286000"/>
            <a:ext cx="14950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35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Ferramentas para o dia seguinte</a:t>
            </a:r>
            <a:endParaRPr lang="en-US" sz="1350" dirty="0"/>
          </a:p>
        </p:txBody>
      </p:sp>
      <p:sp>
        <p:nvSpPr>
          <p:cNvPr id="28" name="texto-285"/>
          <p:cNvSpPr txBox="1"/>
          <p:nvPr/>
        </p:nvSpPr>
        <p:spPr>
          <a:xfrm>
            <a:off x="6999732" y="2999232"/>
            <a:ext cx="14950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Mapa de carteira, roteiro de diagnóstico, guia de linguagem, matriz de soluções e plano de aplicação de 30 dias.</a:t>
            </a:r>
            <a:endParaRPr lang="en-US" sz="10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2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-286"/>
          <p:cNvSpPr/>
          <p:nvPr/>
        </p:nvSpPr>
        <p:spPr>
          <a:xfrm>
            <a:off x="457200" y="379476"/>
            <a:ext cx="137160" cy="137160"/>
          </a:xfrm>
          <a:prstGeom prst="heptagon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" name="secao-287"/>
          <p:cNvSpPr txBox="1"/>
          <p:nvPr/>
        </p:nvSpPr>
        <p:spPr>
          <a:xfrm>
            <a:off x="676656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chemeClr val="accent2"/>
                </a:solidFill>
              </a:rPr>
              <a:t>A PROPOSTA</a:t>
            </a:r>
            <a:endParaRPr lang="en-US" sz="8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kern="0" spc="-60" dirty="0">
                <a:solidFill>
                  <a:schemeClr val="tx1"/>
                </a:solidFill>
              </a:rPr>
              <a:t>Personalização que faz </a:t>
            </a:r>
            <a:r>
              <a:rPr lang="en-US" sz="2600" kern="0" spc="-60" dirty="0">
                <a:solidFill>
                  <a:schemeClr val="tx1"/>
                </a:solidFill>
                <a:highlight>
                  <a:srgbClr val="C8F04A"/>
                </a:highlight>
              </a:rPr>
              <a:t>diferença</a:t>
            </a:r>
            <a:endParaRPr lang="en-US" sz="2600" dirty="0"/>
          </a:p>
        </p:txBody>
      </p:sp>
      <p:sp>
        <p:nvSpPr>
          <p:cNvPr id="5" name="cartao-288"/>
          <p:cNvSpPr/>
          <p:nvPr/>
        </p:nvSpPr>
        <p:spPr>
          <a:xfrm>
            <a:off x="457200" y="1325880"/>
            <a:ext cx="3977640" cy="1243584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/>
          <a:effectLst>
            <a:outerShdw blurRad="177800" dist="38100" dir="5400000" algn="bl" rotWithShape="0">
              <a:srgbClr val="0B1A1F">
                <a:alpha val="9000"/>
              </a:srgbClr>
            </a:outerShdw>
          </a:effectLst>
        </p:spPr>
      </p:sp>
      <p:sp>
        <p:nvSpPr>
          <p:cNvPr id="6" name="selo-289"/>
          <p:cNvSpPr/>
          <p:nvPr/>
        </p:nvSpPr>
        <p:spPr>
          <a:xfrm>
            <a:off x="685800" y="1554480"/>
            <a:ext cx="36576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" name="selo-texto-290"/>
          <p:cNvSpPr txBox="1"/>
          <p:nvPr/>
        </p:nvSpPr>
        <p:spPr>
          <a:xfrm>
            <a:off x="68580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o-291"/>
          <p:cNvSpPr txBox="1"/>
          <p:nvPr/>
        </p:nvSpPr>
        <p:spPr>
          <a:xfrm>
            <a:off x="1234440" y="1527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Realidade do Sicoob Unic</a:t>
            </a:r>
            <a:endParaRPr lang="en-US" sz="1400" dirty="0"/>
          </a:p>
        </p:txBody>
      </p:sp>
      <p:sp>
        <p:nvSpPr>
          <p:cNvPr id="9" name="texto-292"/>
          <p:cNvSpPr txBox="1"/>
          <p:nvPr/>
        </p:nvSpPr>
        <p:spPr>
          <a:xfrm>
            <a:off x="1234440" y="1911096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Briefing com a liderança para conhecer carteira, desafios, experiência do grupo e objetivos comerciais.</a:t>
            </a:r>
            <a:endParaRPr lang="en-US" sz="1050" dirty="0"/>
          </a:p>
        </p:txBody>
      </p:sp>
      <p:sp>
        <p:nvSpPr>
          <p:cNvPr id="10" name="cartao-293"/>
          <p:cNvSpPr/>
          <p:nvPr/>
        </p:nvSpPr>
        <p:spPr>
          <a:xfrm>
            <a:off x="4709160" y="1325880"/>
            <a:ext cx="3977640" cy="1243584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/>
          <a:effectLst>
            <a:outerShdw blurRad="177800" dist="38100" dir="5400000" algn="bl" rotWithShape="0">
              <a:srgbClr val="0B1A1F">
                <a:alpha val="9000"/>
              </a:srgbClr>
            </a:outerShdw>
          </a:effectLst>
        </p:spPr>
      </p:sp>
      <p:sp>
        <p:nvSpPr>
          <p:cNvPr id="11" name="selo-294"/>
          <p:cNvSpPr/>
          <p:nvPr/>
        </p:nvSpPr>
        <p:spPr>
          <a:xfrm>
            <a:off x="4937760" y="1554480"/>
            <a:ext cx="36576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2" name="selo-texto-295"/>
          <p:cNvSpPr txBox="1"/>
          <p:nvPr/>
        </p:nvSpPr>
        <p:spPr>
          <a:xfrm>
            <a:off x="493776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o-296"/>
          <p:cNvSpPr txBox="1"/>
          <p:nvPr/>
        </p:nvSpPr>
        <p:spPr>
          <a:xfrm>
            <a:off x="5486400" y="1527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Portfólio aplicado</a:t>
            </a:r>
            <a:endParaRPr lang="en-US" sz="1400" dirty="0"/>
          </a:p>
        </p:txBody>
      </p:sp>
      <p:sp>
        <p:nvSpPr>
          <p:cNvPr id="14" name="texto-297"/>
          <p:cNvSpPr txBox="1"/>
          <p:nvPr/>
        </p:nvSpPr>
        <p:spPr>
          <a:xfrm>
            <a:off x="5486400" y="1911096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Produtos disponíveis transformados em conversas relevantes para os profissionais da saúde.</a:t>
            </a:r>
            <a:endParaRPr lang="en-US" sz="1050" dirty="0"/>
          </a:p>
        </p:txBody>
      </p:sp>
      <p:sp>
        <p:nvSpPr>
          <p:cNvPr id="15" name="cartao-298"/>
          <p:cNvSpPr/>
          <p:nvPr/>
        </p:nvSpPr>
        <p:spPr>
          <a:xfrm>
            <a:off x="457200" y="2752344"/>
            <a:ext cx="3977640" cy="1243584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/>
          <a:effectLst>
            <a:outerShdw blurRad="177800" dist="38100" dir="5400000" algn="bl" rotWithShape="0">
              <a:srgbClr val="0B1A1F">
                <a:alpha val="9000"/>
              </a:srgbClr>
            </a:outerShdw>
          </a:effectLst>
        </p:spPr>
      </p:sp>
      <p:sp>
        <p:nvSpPr>
          <p:cNvPr id="16" name="selo-299"/>
          <p:cNvSpPr/>
          <p:nvPr/>
        </p:nvSpPr>
        <p:spPr>
          <a:xfrm>
            <a:off x="685800" y="2980944"/>
            <a:ext cx="36576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7" name="selo-texto-300"/>
          <p:cNvSpPr txBox="1"/>
          <p:nvPr/>
        </p:nvSpPr>
        <p:spPr>
          <a:xfrm>
            <a:off x="685800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o-301"/>
          <p:cNvSpPr txBox="1"/>
          <p:nvPr/>
        </p:nvSpPr>
        <p:spPr>
          <a:xfrm>
            <a:off x="1234440" y="2953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Casos da cooperativa</a:t>
            </a:r>
            <a:endParaRPr lang="en-US" sz="1400" dirty="0"/>
          </a:p>
        </p:txBody>
      </p:sp>
      <p:sp>
        <p:nvSpPr>
          <p:cNvPr id="19" name="texto-302"/>
          <p:cNvSpPr txBox="1"/>
          <p:nvPr/>
        </p:nvSpPr>
        <p:spPr>
          <a:xfrm>
            <a:off x="1234440" y="333756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Situações de atendimento, secretárias, objeções e demandas recorrentes da cooperativa.</a:t>
            </a:r>
            <a:endParaRPr lang="en-US" sz="1050" dirty="0"/>
          </a:p>
        </p:txBody>
      </p:sp>
      <p:sp>
        <p:nvSpPr>
          <p:cNvPr id="20" name="cartao-303"/>
          <p:cNvSpPr/>
          <p:nvPr/>
        </p:nvSpPr>
        <p:spPr>
          <a:xfrm>
            <a:off x="4709160" y="2752344"/>
            <a:ext cx="3977640" cy="1243584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/>
          <a:effectLst>
            <a:outerShdw blurRad="177800" dist="38100" dir="5400000" algn="bl" rotWithShape="0">
              <a:srgbClr val="0B1A1F">
                <a:alpha val="9000"/>
              </a:srgbClr>
            </a:outerShdw>
          </a:effectLst>
        </p:spPr>
      </p:sp>
      <p:sp>
        <p:nvSpPr>
          <p:cNvPr id="21" name="selo-304"/>
          <p:cNvSpPr/>
          <p:nvPr/>
        </p:nvSpPr>
        <p:spPr>
          <a:xfrm>
            <a:off x="4937760" y="2980944"/>
            <a:ext cx="36576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2" name="selo-texto-305"/>
          <p:cNvSpPr txBox="1"/>
          <p:nvPr/>
        </p:nvSpPr>
        <p:spPr>
          <a:xfrm>
            <a:off x="4937760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o-306"/>
          <p:cNvSpPr txBox="1"/>
          <p:nvPr/>
        </p:nvSpPr>
        <p:spPr>
          <a:xfrm>
            <a:off x="5486400" y="2953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Aplicação e continuidade</a:t>
            </a:r>
            <a:endParaRPr lang="en-US" sz="1400" dirty="0"/>
          </a:p>
        </p:txBody>
      </p:sp>
      <p:sp>
        <p:nvSpPr>
          <p:cNvPr id="24" name="texto-307"/>
          <p:cNvSpPr txBox="1"/>
          <p:nvPr/>
        </p:nvSpPr>
        <p:spPr>
          <a:xfrm>
            <a:off x="5486400" y="333756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Ações sobre a carteira real e instrumentos para a liderança acompanhar os compromissos.</a:t>
            </a:r>
            <a:endParaRPr lang="en-US" sz="1050" dirty="0"/>
          </a:p>
        </p:txBody>
      </p:sp>
      <p:sp>
        <p:nvSpPr>
          <p:cNvPr id="25" name="selo-308"/>
          <p:cNvSpPr/>
          <p:nvPr/>
        </p:nvSpPr>
        <p:spPr>
          <a:xfrm>
            <a:off x="457200" y="4206240"/>
            <a:ext cx="574167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26" name="selo-texto-309"/>
          <p:cNvSpPr txBox="1"/>
          <p:nvPr/>
        </p:nvSpPr>
        <p:spPr>
          <a:xfrm>
            <a:off x="457200" y="4206240"/>
            <a:ext cx="574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A personalização orienta o conteúdo, os exercícios e as entregas do workshop.</a:t>
            </a:r>
            <a:endParaRPr lang="en-US" sz="10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2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-310"/>
          <p:cNvSpPr/>
          <p:nvPr/>
        </p:nvSpPr>
        <p:spPr>
          <a:xfrm>
            <a:off x="457200" y="379476"/>
            <a:ext cx="137160" cy="137160"/>
          </a:xfrm>
          <a:prstGeom prst="heptagon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" name="secao-311"/>
          <p:cNvSpPr txBox="1"/>
          <p:nvPr/>
        </p:nvSpPr>
        <p:spPr>
          <a:xfrm>
            <a:off x="676656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chemeClr val="accent2"/>
                </a:solidFill>
              </a:rPr>
              <a:t>A PROPOSTA</a:t>
            </a:r>
            <a:endParaRPr lang="en-US" sz="8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kern="0" spc="-60" dirty="0">
                <a:solidFill>
                  <a:schemeClr val="tx1"/>
                </a:solidFill>
              </a:rPr>
              <a:t>Organização da </a:t>
            </a:r>
            <a:r>
              <a:rPr lang="en-US" sz="2600" kern="0" spc="-60" dirty="0">
                <a:solidFill>
                  <a:schemeClr val="tx1"/>
                </a:solidFill>
                <a:highlight>
                  <a:srgbClr val="C8F04A"/>
                </a:highlight>
              </a:rPr>
              <a:t>jornada</a:t>
            </a:r>
            <a:endParaRPr lang="en-US" sz="2600" dirty="0"/>
          </a:p>
        </p:txBody>
      </p:sp>
      <p:sp>
        <p:nvSpPr>
          <p:cNvPr id="5" name="texto-312"/>
          <p:cNvSpPr txBox="1"/>
          <p:nvPr/>
        </p:nvSpPr>
        <p:spPr>
          <a:xfrm>
            <a:off x="457200" y="11338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chemeClr val="accent2"/>
                </a:solidFill>
              </a:rPr>
              <a:t>Um dia presencial  •  8 horas efetivas  •  Data e local a definir</a:t>
            </a:r>
            <a:endParaRPr lang="en-US" sz="1100" dirty="0"/>
          </a:p>
        </p:txBody>
      </p:sp>
      <p:sp>
        <p:nvSpPr>
          <p:cNvPr id="6" name="cartao-313"/>
          <p:cNvSpPr/>
          <p:nvPr/>
        </p:nvSpPr>
        <p:spPr>
          <a:xfrm>
            <a:off x="457200" y="1517904"/>
            <a:ext cx="8229600" cy="2615184"/>
          </a:xfrm>
          <a:prstGeom prst="roundRect">
            <a:avLst>
              <a:gd name="adj" fmla="val 5594"/>
            </a:avLst>
          </a:prstGeom>
          <a:solidFill>
            <a:schemeClr val="bg1"/>
          </a:solidFill>
          <a:ln/>
          <a:effectLst>
            <a:outerShdw blurRad="177800" dist="38100" dir="5400000" algn="bl" rotWithShape="0">
              <a:srgbClr val="0B1A1F">
                <a:alpha val="9000"/>
              </a:srgbClr>
            </a:outerShdw>
          </a:effectLst>
        </p:spPr>
      </p:sp>
      <p:graphicFrame>
        <p:nvGraphicFramePr>
          <p:cNvPr id="15" name="tabela-jornad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45920"/>
          <a:ext cx="777240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kern="0" spc="180" dirty="0">
                          <a:solidFill>
                            <a:schemeClr val="accent2"/>
                          </a:solidFill>
                        </a:rPr>
                        <a:t>PERÍODO</a:t>
                      </a:r>
                      <a:endParaRPr lang="en-US" sz="8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kern="0" spc="180" dirty="0">
                          <a:solidFill>
                            <a:schemeClr val="accent2"/>
                          </a:solidFill>
                        </a:rPr>
                        <a:t>DURAÇÃO</a:t>
                      </a:r>
                      <a:endParaRPr lang="en-US" sz="8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kern="0" spc="180" dirty="0">
                          <a:solidFill>
                            <a:schemeClr val="accent2"/>
                          </a:solidFill>
                        </a:rPr>
                        <a:t>PILAR</a:t>
                      </a:r>
                      <a:endParaRPr lang="en-US" sz="8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kern="0" spc="180" dirty="0">
                          <a:solidFill>
                            <a:schemeClr val="accent2"/>
                          </a:solidFill>
                        </a:rPr>
                        <a:t>FOCO</a:t>
                      </a:r>
                      <a:endParaRPr lang="en-US" sz="8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Manhã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0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2h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0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01</a:t>
                      </a:r>
                      <a:endParaRPr lang="en-US" sz="11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0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Leitura do cooperado e da carteira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0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Manhã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0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2h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0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02</a:t>
                      </a:r>
                      <a:endParaRPr lang="en-US" sz="11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0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Postura, diplomacia e linguagem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0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Tarde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0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2h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0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03</a:t>
                      </a:r>
                      <a:endParaRPr lang="en-US" sz="11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0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Venda consultiva e soluções financeiras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0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Tarde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0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2h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0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04</a:t>
                      </a:r>
                      <a:endParaRPr lang="en-US" sz="11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0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Accountability e gestão do relacionamento</a:t>
                      </a:r>
                      <a:endParaRPr lang="en-US" sz="11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0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marca-manha"/>
          <p:cNvSpPr/>
          <p:nvPr/>
        </p:nvSpPr>
        <p:spPr>
          <a:xfrm>
            <a:off x="566928" y="2112264"/>
            <a:ext cx="54864" cy="95097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9" name="marca-tarde"/>
          <p:cNvSpPr/>
          <p:nvPr/>
        </p:nvSpPr>
        <p:spPr>
          <a:xfrm>
            <a:off x="566928" y="3136392"/>
            <a:ext cx="54864" cy="9509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10" name="texto-314"/>
          <p:cNvSpPr txBox="1"/>
          <p:nvPr/>
        </p:nvSpPr>
        <p:spPr>
          <a:xfrm>
            <a:off x="457200" y="42793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chemeClr val="accent2"/>
                </a:solidFill>
              </a:rPr>
              <a:t>Almoço e intervalos adicionais à carga de conteúdo. Horários a alinhar com a cooperativa.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2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-315"/>
          <p:cNvSpPr/>
          <p:nvPr/>
        </p:nvSpPr>
        <p:spPr>
          <a:xfrm>
            <a:off x="457200" y="379476"/>
            <a:ext cx="137160" cy="137160"/>
          </a:xfrm>
          <a:prstGeom prst="heptagon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" name="secao-316"/>
          <p:cNvSpPr txBox="1"/>
          <p:nvPr/>
        </p:nvSpPr>
        <p:spPr>
          <a:xfrm>
            <a:off x="676656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chemeClr val="accent2"/>
                </a:solidFill>
              </a:rPr>
              <a:t>A PROPOSTA</a:t>
            </a:r>
            <a:endParaRPr lang="en-US" sz="8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kern="0" spc="-60" dirty="0">
                <a:solidFill>
                  <a:schemeClr val="tx1"/>
                </a:solidFill>
                <a:highlight>
                  <a:srgbClr val="C8F04A"/>
                </a:highlight>
              </a:rPr>
              <a:t>Investimento</a:t>
            </a:r>
            <a:endParaRPr lang="en-US" sz="2600" dirty="0"/>
          </a:p>
        </p:txBody>
      </p:sp>
      <p:pic>
        <p:nvPicPr>
          <p:cNvPr id="5" name="painel-investimen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977640" cy="2103120"/>
          </a:xfrm>
          <a:prstGeom prst="rect">
            <a:avLst/>
          </a:prstGeom>
        </p:spPr>
      </p:pic>
      <p:sp>
        <p:nvSpPr>
          <p:cNvPr id="6" name="cartao-317"/>
          <p:cNvSpPr/>
          <p:nvPr/>
        </p:nvSpPr>
        <p:spPr>
          <a:xfrm>
            <a:off x="4709160" y="1325880"/>
            <a:ext cx="3977640" cy="210312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/>
          <a:effectLst>
            <a:outerShdw blurRad="177800" dist="38100" dir="5400000" algn="bl" rotWithShape="0">
              <a:srgbClr val="0B1A1F">
                <a:alpha val="9000"/>
              </a:srgbClr>
            </a:outerShdw>
          </a:effectLst>
        </p:spPr>
      </p:sp>
      <p:sp>
        <p:nvSpPr>
          <p:cNvPr id="7" name="texto-318"/>
          <p:cNvSpPr txBox="1"/>
          <p:nvPr/>
        </p:nvSpPr>
        <p:spPr>
          <a:xfrm>
            <a:off x="749808" y="1600200"/>
            <a:ext cx="3392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chemeClr val="tx1"/>
                </a:solidFill>
              </a:rPr>
              <a:t>Workshop personalizado</a:t>
            </a:r>
            <a:endParaRPr lang="en-US" sz="1150" dirty="0"/>
          </a:p>
        </p:txBody>
      </p:sp>
      <p:sp>
        <p:nvSpPr>
          <p:cNvPr id="8" name="texto-319"/>
          <p:cNvSpPr txBox="1"/>
          <p:nvPr/>
        </p:nvSpPr>
        <p:spPr>
          <a:xfrm>
            <a:off x="749808" y="1911096"/>
            <a:ext cx="3392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300" kern="0" spc="-5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 definir</a:t>
            </a:r>
            <a:endParaRPr lang="en-US" sz="2300" dirty="0"/>
          </a:p>
        </p:txBody>
      </p:sp>
      <p:sp>
        <p:nvSpPr>
          <p:cNvPr id="9" name="texto-320"/>
          <p:cNvSpPr txBox="1"/>
          <p:nvPr/>
        </p:nvSpPr>
        <p:spPr>
          <a:xfrm>
            <a:off x="749808" y="2651760"/>
            <a:ext cx="3392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8 horas presenciais para os gerentes de carteira e de relacionamento do Sicoob Unic.</a:t>
            </a:r>
            <a:endParaRPr lang="en-US" sz="1100" dirty="0"/>
          </a:p>
        </p:txBody>
      </p:sp>
      <p:sp>
        <p:nvSpPr>
          <p:cNvPr id="10" name="texto-321"/>
          <p:cNvSpPr txBox="1"/>
          <p:nvPr/>
        </p:nvSpPr>
        <p:spPr>
          <a:xfrm>
            <a:off x="5001768" y="1600200"/>
            <a:ext cx="3392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chemeClr val="tx1"/>
                </a:solidFill>
              </a:rPr>
              <a:t>Escopo contemplado</a:t>
            </a:r>
            <a:endParaRPr lang="en-US" sz="1150" dirty="0"/>
          </a:p>
        </p:txBody>
      </p:sp>
      <p:sp>
        <p:nvSpPr>
          <p:cNvPr id="11" name="texto-322"/>
          <p:cNvSpPr txBox="1"/>
          <p:nvPr/>
        </p:nvSpPr>
        <p:spPr>
          <a:xfrm>
            <a:off x="5001768" y="1911096"/>
            <a:ext cx="3392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300" kern="0" spc="-5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Conteúdo + prática</a:t>
            </a:r>
            <a:endParaRPr lang="en-US" sz="2300" dirty="0"/>
          </a:p>
        </p:txBody>
      </p:sp>
      <p:sp>
        <p:nvSpPr>
          <p:cNvPr id="12" name="texto-323"/>
          <p:cNvSpPr txBox="1"/>
          <p:nvPr/>
        </p:nvSpPr>
        <p:spPr>
          <a:xfrm>
            <a:off x="5001768" y="2651760"/>
            <a:ext cx="3392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Preparação, alinhamento prévio, condução e ferramentas digitais para aplicação na carteira.</a:t>
            </a:r>
            <a:endParaRPr lang="en-US" sz="1100" dirty="0"/>
          </a:p>
        </p:txBody>
      </p:sp>
      <p:sp>
        <p:nvSpPr>
          <p:cNvPr id="13" name="cartao-324"/>
          <p:cNvSpPr/>
          <p:nvPr/>
        </p:nvSpPr>
        <p:spPr>
          <a:xfrm>
            <a:off x="457200" y="3657600"/>
            <a:ext cx="8229600" cy="566928"/>
          </a:xfrm>
          <a:prstGeom prst="roundRect">
            <a:avLst>
              <a:gd name="adj" fmla="val 19355"/>
            </a:avLst>
          </a:prstGeom>
          <a:solidFill>
            <a:schemeClr val="accent5"/>
          </a:solidFill>
          <a:ln/>
        </p:spPr>
      </p:sp>
      <p:pic>
        <p:nvPicPr>
          <p:cNvPr id="14" name="icone-inclus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831336"/>
            <a:ext cx="219456" cy="219456"/>
          </a:xfrm>
          <a:prstGeom prst="rect">
            <a:avLst/>
          </a:prstGeom>
        </p:spPr>
      </p:pic>
      <p:sp>
        <p:nvSpPr>
          <p:cNvPr id="15" name="incluso"/>
          <p:cNvSpPr txBox="1"/>
          <p:nvPr/>
        </p:nvSpPr>
        <p:spPr>
          <a:xfrm>
            <a:off x="987552" y="365760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Incluso:</a:t>
            </a:r>
            <a:r>
              <a:rPr lang="en-US" sz="1100" dirty="0">
                <a:solidFill>
                  <a:schemeClr val="tx2"/>
                </a:solidFill>
              </a:rPr>
              <a:t> customização dos conteúdos, casos, apresentação, material digital e plano individual de 30 dias.</a:t>
            </a:r>
            <a:endParaRPr lang="en-US" sz="1100" dirty="0"/>
          </a:p>
        </p:txBody>
      </p:sp>
      <p:sp>
        <p:nvSpPr>
          <p:cNvPr id="16" name="texto-325"/>
          <p:cNvSpPr txBox="1"/>
          <p:nvPr/>
        </p:nvSpPr>
        <p:spPr>
          <a:xfrm>
            <a:off x="457200" y="43525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chemeClr val="accent2"/>
                </a:solidFill>
              </a:rPr>
              <a:t>Logística, materiais impressos, despesas de viagem e condições de pagamento a definir na proposta comercial.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2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-326"/>
          <p:cNvSpPr/>
          <p:nvPr/>
        </p:nvSpPr>
        <p:spPr>
          <a:xfrm>
            <a:off x="457200" y="379476"/>
            <a:ext cx="137160" cy="137160"/>
          </a:xfrm>
          <a:prstGeom prst="heptagon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" name="secao-327"/>
          <p:cNvSpPr txBox="1"/>
          <p:nvPr/>
        </p:nvSpPr>
        <p:spPr>
          <a:xfrm>
            <a:off x="676656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chemeClr val="accent2"/>
                </a:solidFill>
              </a:rPr>
              <a:t>A PROPOSTA</a:t>
            </a:r>
            <a:endParaRPr lang="en-US" sz="8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kern="0" spc="-60" dirty="0">
                <a:solidFill>
                  <a:schemeClr val="tx1"/>
                </a:solidFill>
              </a:rPr>
              <a:t>Próximos </a:t>
            </a:r>
            <a:r>
              <a:rPr lang="en-US" sz="2600" kern="0" spc="-60" dirty="0">
                <a:solidFill>
                  <a:schemeClr val="tx1"/>
                </a:solidFill>
                <a:highlight>
                  <a:srgbClr val="C8F04A"/>
                </a:highlight>
              </a:rPr>
              <a:t>passos</a:t>
            </a:r>
            <a:endParaRPr lang="en-US" sz="2600" dirty="0"/>
          </a:p>
        </p:txBody>
      </p:sp>
      <p:sp>
        <p:nvSpPr>
          <p:cNvPr id="5" name="linha-passos"/>
          <p:cNvSpPr/>
          <p:nvPr/>
        </p:nvSpPr>
        <p:spPr>
          <a:xfrm>
            <a:off x="950976" y="1645920"/>
            <a:ext cx="6323076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</a:ln>
        </p:spPr>
      </p:sp>
      <p:sp>
        <p:nvSpPr>
          <p:cNvPr id="6" name="passo-328"/>
          <p:cNvSpPr/>
          <p:nvPr/>
        </p:nvSpPr>
        <p:spPr>
          <a:xfrm>
            <a:off x="676656" y="137160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7" name="passo-num-329"/>
          <p:cNvSpPr txBox="1"/>
          <p:nvPr/>
        </p:nvSpPr>
        <p:spPr>
          <a:xfrm>
            <a:off x="676656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cartao-330"/>
          <p:cNvSpPr/>
          <p:nvPr/>
        </p:nvSpPr>
        <p:spPr>
          <a:xfrm>
            <a:off x="457200" y="2148840"/>
            <a:ext cx="1906524" cy="14630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blurRad="177800" dist="38100" dir="5400000" algn="bl" rotWithShape="0">
              <a:srgbClr val="0B1A1F">
                <a:alpha val="9000"/>
              </a:srgbClr>
            </a:outerShdw>
          </a:effectLst>
        </p:spPr>
      </p:sp>
      <p:sp>
        <p:nvSpPr>
          <p:cNvPr id="9" name="texto-331"/>
          <p:cNvSpPr txBox="1"/>
          <p:nvPr/>
        </p:nvSpPr>
        <p:spPr>
          <a:xfrm>
            <a:off x="676656" y="2331720"/>
            <a:ext cx="14950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Alinhamento</a:t>
            </a:r>
            <a:endParaRPr lang="en-US" sz="1400" dirty="0"/>
          </a:p>
        </p:txBody>
      </p:sp>
      <p:sp>
        <p:nvSpPr>
          <p:cNvPr id="10" name="texto-332"/>
          <p:cNvSpPr txBox="1"/>
          <p:nvPr/>
        </p:nvSpPr>
        <p:spPr>
          <a:xfrm>
            <a:off x="676656" y="2706624"/>
            <a:ext cx="14950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Validar público, objetivos, formato, data e condições comerciais.</a:t>
            </a:r>
            <a:endParaRPr lang="en-US" sz="1050" dirty="0"/>
          </a:p>
        </p:txBody>
      </p:sp>
      <p:sp>
        <p:nvSpPr>
          <p:cNvPr id="11" name="passo-333"/>
          <p:cNvSpPr/>
          <p:nvPr/>
        </p:nvSpPr>
        <p:spPr>
          <a:xfrm>
            <a:off x="2784348" y="137160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2" name="passo-num-334"/>
          <p:cNvSpPr txBox="1"/>
          <p:nvPr/>
        </p:nvSpPr>
        <p:spPr>
          <a:xfrm>
            <a:off x="2784348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cartao-335"/>
          <p:cNvSpPr/>
          <p:nvPr/>
        </p:nvSpPr>
        <p:spPr>
          <a:xfrm>
            <a:off x="2564892" y="2148840"/>
            <a:ext cx="1906524" cy="14630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blurRad="177800" dist="38100" dir="5400000" algn="bl" rotWithShape="0">
              <a:srgbClr val="0B1A1F">
                <a:alpha val="9000"/>
              </a:srgbClr>
            </a:outerShdw>
          </a:effectLst>
        </p:spPr>
      </p:sp>
      <p:sp>
        <p:nvSpPr>
          <p:cNvPr id="14" name="texto-336"/>
          <p:cNvSpPr txBox="1"/>
          <p:nvPr/>
        </p:nvSpPr>
        <p:spPr>
          <a:xfrm>
            <a:off x="2784348" y="2331720"/>
            <a:ext cx="14950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Customização</a:t>
            </a:r>
            <a:endParaRPr lang="en-US" sz="1400" dirty="0"/>
          </a:p>
        </p:txBody>
      </p:sp>
      <p:sp>
        <p:nvSpPr>
          <p:cNvPr id="15" name="texto-337"/>
          <p:cNvSpPr txBox="1"/>
          <p:nvPr/>
        </p:nvSpPr>
        <p:spPr>
          <a:xfrm>
            <a:off x="2784348" y="2706624"/>
            <a:ext cx="14950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Conhecer a carteira, o portfólio e os casos do Sicoob Unic.</a:t>
            </a:r>
            <a:endParaRPr lang="en-US" sz="1050" dirty="0"/>
          </a:p>
        </p:txBody>
      </p:sp>
      <p:sp>
        <p:nvSpPr>
          <p:cNvPr id="16" name="passo-338"/>
          <p:cNvSpPr/>
          <p:nvPr/>
        </p:nvSpPr>
        <p:spPr>
          <a:xfrm>
            <a:off x="4892040" y="137160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7" name="passo-num-339"/>
          <p:cNvSpPr txBox="1"/>
          <p:nvPr/>
        </p:nvSpPr>
        <p:spPr>
          <a:xfrm>
            <a:off x="48920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cartao-340"/>
          <p:cNvSpPr/>
          <p:nvPr/>
        </p:nvSpPr>
        <p:spPr>
          <a:xfrm>
            <a:off x="4672584" y="2148840"/>
            <a:ext cx="1906524" cy="14630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blurRad="177800" dist="38100" dir="5400000" algn="bl" rotWithShape="0">
              <a:srgbClr val="0B1A1F">
                <a:alpha val="9000"/>
              </a:srgbClr>
            </a:outerShdw>
          </a:effectLst>
        </p:spPr>
      </p:sp>
      <p:sp>
        <p:nvSpPr>
          <p:cNvPr id="19" name="texto-341"/>
          <p:cNvSpPr txBox="1"/>
          <p:nvPr/>
        </p:nvSpPr>
        <p:spPr>
          <a:xfrm>
            <a:off x="4892040" y="2331720"/>
            <a:ext cx="14950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Execução</a:t>
            </a:r>
            <a:endParaRPr lang="en-US" sz="1400" dirty="0"/>
          </a:p>
        </p:txBody>
      </p:sp>
      <p:sp>
        <p:nvSpPr>
          <p:cNvPr id="20" name="texto-342"/>
          <p:cNvSpPr txBox="1"/>
          <p:nvPr/>
        </p:nvSpPr>
        <p:spPr>
          <a:xfrm>
            <a:off x="4892040" y="2706624"/>
            <a:ext cx="14950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Realizar o workshop com análise, discussão e prática.</a:t>
            </a:r>
            <a:endParaRPr lang="en-US" sz="1050" dirty="0"/>
          </a:p>
        </p:txBody>
      </p:sp>
      <p:sp>
        <p:nvSpPr>
          <p:cNvPr id="21" name="passo-343"/>
          <p:cNvSpPr/>
          <p:nvPr/>
        </p:nvSpPr>
        <p:spPr>
          <a:xfrm>
            <a:off x="6999732" y="1371600"/>
            <a:ext cx="548640" cy="54864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2" name="passo-num-344"/>
          <p:cNvSpPr txBox="1"/>
          <p:nvPr/>
        </p:nvSpPr>
        <p:spPr>
          <a:xfrm>
            <a:off x="6999732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cartao-345"/>
          <p:cNvSpPr/>
          <p:nvPr/>
        </p:nvSpPr>
        <p:spPr>
          <a:xfrm>
            <a:off x="6780276" y="2148840"/>
            <a:ext cx="1906524" cy="14630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blurRad="177800" dist="38100" dir="5400000" algn="bl" rotWithShape="0">
              <a:srgbClr val="0B1A1F">
                <a:alpha val="9000"/>
              </a:srgbClr>
            </a:outerShdw>
          </a:effectLst>
        </p:spPr>
      </p:sp>
      <p:sp>
        <p:nvSpPr>
          <p:cNvPr id="24" name="texto-346"/>
          <p:cNvSpPr txBox="1"/>
          <p:nvPr/>
        </p:nvSpPr>
        <p:spPr>
          <a:xfrm>
            <a:off x="6999732" y="2331720"/>
            <a:ext cx="14950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Aplicação</a:t>
            </a:r>
            <a:endParaRPr lang="en-US" sz="1400" dirty="0"/>
          </a:p>
        </p:txBody>
      </p:sp>
      <p:sp>
        <p:nvSpPr>
          <p:cNvPr id="25" name="texto-347"/>
          <p:cNvSpPr txBox="1"/>
          <p:nvPr/>
        </p:nvSpPr>
        <p:spPr>
          <a:xfrm>
            <a:off x="6999732" y="2706624"/>
            <a:ext cx="14950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Executar o plano de 30 dias, com acompanhamento da liderança.</a:t>
            </a:r>
            <a:endParaRPr lang="en-US" sz="1050" dirty="0"/>
          </a:p>
        </p:txBody>
      </p:sp>
      <p:sp>
        <p:nvSpPr>
          <p:cNvPr id="26" name="selo-348"/>
          <p:cNvSpPr/>
          <p:nvPr/>
        </p:nvSpPr>
        <p:spPr>
          <a:xfrm>
            <a:off x="457200" y="4114800"/>
            <a:ext cx="3849434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27" name="selo-texto-349"/>
          <p:cNvSpPr txBox="1"/>
          <p:nvPr/>
        </p:nvSpPr>
        <p:spPr>
          <a:xfrm>
            <a:off x="457200" y="4114800"/>
            <a:ext cx="38494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contato@mentorei.com.br  •  www.mentorei.com.br</a:t>
            </a:r>
            <a:endParaRPr lang="en-US" sz="10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817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2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1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inel-rad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365760"/>
            <a:ext cx="3886200" cy="4411980"/>
          </a:xfrm>
          <a:prstGeom prst="rect">
            <a:avLst/>
          </a:prstGeom>
        </p:spPr>
      </p:pic>
      <p:pic>
        <p:nvPicPr>
          <p:cNvPr id="3" name="radar-etapa-26" descr="Radar com todas as pontas na nota máxim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859536"/>
            <a:ext cx="3429000" cy="34290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37160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kern="0" spc="-60" dirty="0">
                <a:solidFill>
                  <a:schemeClr val="tx1"/>
                </a:solidFill>
              </a:rPr>
              <a:t>“Conhecer a rotina. </a:t>
            </a:r>
            <a:r>
              <a:rPr lang="en-US" sz="3000" kern="0" spc="-60" dirty="0">
                <a:solidFill>
                  <a:schemeClr val="tx1"/>
                </a:solidFill>
                <a:highlight>
                  <a:srgbClr val="C8F04A"/>
                </a:highlight>
              </a:rPr>
              <a:t>Construir confiança.</a:t>
            </a:r>
            <a:endParaRPr lang="en-US" sz="3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000" kern="0" spc="-60" dirty="0">
                <a:solidFill>
                  <a:schemeClr val="tx1"/>
                </a:solidFill>
              </a:rPr>
              <a:t>Entregar soluções que fazem sentido.”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ntorei Radar Claro">
  <a:themeElements>
    <a:clrScheme name="Mentorei Radar Claro">
      <a:dk1>
        <a:srgbClr val="091216"/>
      </a:dk1>
      <a:lt1>
        <a:srgbClr val="FFFFFF"/>
      </a:lt1>
      <a:dk2>
        <a:srgbClr val="2F383C"/>
      </a:dk2>
      <a:lt2>
        <a:srgbClr val="F3F5F4"/>
      </a:lt2>
      <a:accent1>
        <a:srgbClr val="C8F04A"/>
      </a:accent1>
      <a:accent2>
        <a:srgbClr val="5E6467"/>
      </a:accent2>
      <a:accent3>
        <a:srgbClr val="E0E1E1"/>
      </a:accent3>
      <a:accent4>
        <a:srgbClr val="8DB31C"/>
      </a:accent4>
      <a:accent5>
        <a:srgbClr val="EEF8CF"/>
      </a:accent5>
      <a:accent6>
        <a:srgbClr val="1B272C"/>
      </a:accent6>
      <a:hlink>
        <a:srgbClr val="091216"/>
      </a:hlink>
      <a:folHlink>
        <a:srgbClr val="5E6467"/>
      </a:folHlink>
    </a:clrScheme>
    <a:fontScheme name="Mentorei Radar Claro">
      <a:majorFont>
        <a:latin typeface="Inter Extra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1666</Words>
  <Application>Microsoft Office PowerPoint</Application>
  <PresentationFormat>Apresentação na tela (16:9)</PresentationFormat>
  <Paragraphs>270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Inter</vt:lpstr>
      <vt:lpstr>Inter ExtraBold</vt:lpstr>
      <vt:lpstr>Arial</vt:lpstr>
      <vt:lpstr>Mentorei Radar Claro</vt:lpstr>
      <vt:lpstr>Carteira Branca</vt:lpstr>
      <vt:lpstr>O que entendemos da sua demanda</vt:lpstr>
      <vt:lpstr>Quem desenvolve o workshop</vt:lpstr>
      <vt:lpstr>Expertise em cooperativismo</vt:lpstr>
      <vt:lpstr>As sócias da Mentorei</vt:lpstr>
      <vt:lpstr>O workshop em quatro pilares</vt:lpstr>
      <vt:lpstr>Leitura do cooperado e da carteira</vt:lpstr>
      <vt:lpstr>Postura, diplomacia e linguagem</vt:lpstr>
      <vt:lpstr>Venda consultiva e soluções</vt:lpstr>
      <vt:lpstr>Revisitar produtos. Mudar a conversa.</vt:lpstr>
      <vt:lpstr>Accountability e relacionamento</vt:lpstr>
      <vt:lpstr>Uma experiência dinâmica e aplicada</vt:lpstr>
      <vt:lpstr>Personalização que faz diferença</vt:lpstr>
      <vt:lpstr>Organização da jornada</vt:lpstr>
      <vt:lpstr>Investimento</vt:lpstr>
      <vt:lpstr>Próximos passos</vt:lpstr>
      <vt:lpstr>“Conhecer a rotina. Construir confiança. Entregar soluções que fazem sentido.”</vt:lpstr>
    </vt:vector>
  </TitlesOfParts>
  <Company>Mentorei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Mentorei — Carteira Branca</dc:title>
  <dc:subject>PptxGenJS Presentation</dc:subject>
  <dc:creator>Mentorei</dc:creator>
  <cp:lastModifiedBy>usuario</cp:lastModifiedBy>
  <cp:revision>1</cp:revision>
  <dcterms:created xsi:type="dcterms:W3CDTF">2026-10-09T10:12:10Z</dcterms:created>
  <dcterms:modified xsi:type="dcterms:W3CDTF">2026-10-09T11:19:04Z</dcterms:modified>
</cp:coreProperties>
</file>