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72" r:id="rId23"/>
    <p:sldId id="265" r:id="rId11"/>
    <p:sldId id="266" r:id="rId12"/>
    <p:sldId id="273" r:id="rId24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55" autoAdjust="0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106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Proposta personalizada da Mentorei para o Sicoob Unic. Público: gerentes que atendem profissionais da saúde no segmento de alta renda. Data, local, quantidade de participantes e facilitadoras a definir. São oito horas efetivas; almoço e intervalos adicionais.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alta renda é o recorte definido pela cooperativa. Profissão não determina renda ou patrimônio. Diferenciar fase profissional, fontes de receita, vínculos, objetivos e relação PF/PJ. O relacionamento com a equipe do consultório integra a experiência do cooperado.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Credenciais e indicadores reproduzidos do modelo institucional fornecido pela Mentorei. A nota 4,9/5 foi identificada como avaliação: a escala de 0 a 5 não corresponde à metodologia de NPS. Validar a denominação interna antes do envio comercial.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personalização será desenvolvida em alinhamento prévio. Não apresentar hipóteses como diagnóstico já realizado. Referências da proposta anterior a governança feminina e Sescoop/PR foram removidas por não pertencerem a este escopo.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Bios institucionais preservadas do modelo enviado. A apresentação das três sócias não implica atuação conjunta das três neste workshop; a condução será definida na contratação.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Os conteúdos de secretárias, abordagem do portfólio, exercícios e planos individuais estão incluídos nos quatro pilares. Não representam módulos ou carga horária adicionais.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120 min: abertura/diagnóstico 15; conteúdo 25; casos 30; carteira individual 35; síntese 15. Trabalhar casos de médica com plantões e vínculo hospitalar, dentista expandindo consultório e enfermeira gestora com patrimônio e plano de reduzir jornada. Usar exemplos fictícios e dados anonimizados. Entrega: três prioridades e perguntas de diagnóstico.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120 min: conteúdo 25; laboratório de mensagens 25; simulações 45; autoavaliação/síntese 25. Alternar gerente, secretária/cooperado e observador. Avaliar escuta, respeito, clareza e combinado. O relacionamento com a secretária deve reconhecer sua função e limites de autorização, sem expor informações financeiras ou pressionar acesso.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120 min: conteúdo 25; revisão do portfólio 25; laboratório/caso 45; aplicação individual 25. Selecionar os produtos efetivamente ofertados pelo Sicoob Unic. Não depende de linha exclusiva para saúde: adaptar diagnóstico, benefício e argumento sem alterar condições ou atribuir vantagens inexistentes. Avaliar custos, risco, liquidez, crédito e capacidade de pagamento. Seguro: verificar cobertura, carência e exclusões. Consórcio: prazo de contemplação incerto, sem promessa de disponibilidade imediata. Objeções: já tenho banco; só quero a taxa; mande por WhatsApp.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120 min: conteúdo 20; discussão do caso 25; plano individual 40; revisão em duplas/avaliação/fechamento 35. Caso: retorno sobre equipamento chega após contratação em concorrente por falta de combinado e acompanhamento. O gerente responde pelo acompanhamento, mesmo quando a solução depende de outra área. Prazos de serviço serão definidos conforme operação, sem expectativa de atendimento permanente fora dos horários acordados. Liderança pode acompanhar retornos no prazo, diagnósticos, oportunidades, propostas e conversões, considerando o ciclo comercial.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metodologia alterna exposições curtas, casos, prática e reflexão. Todas as atividades estão dentro das oito horas. Instrumentos em formato editável e material digital de apoio. Avaliação por observação nas simulações e qualidade do plano individual. Compartilhamentos com dados anonimizados. Quantidade e organização dos grupos ajustadas ao número de participantes.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Oito horas efetivas de formação. A grade de horários deverá acomodar pausas e almoço além da carga. Os dois pilares da manhã somam quatro horas e os dois da tarde somam quatro horas. Quantidade de participantes, data, local e estrutura a definir.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Não foram transportados valores de palestras ou condições comerciais do programa Cresol. Investimento, pagamento, logística e validade a definir pela Mentorei. O plano de 30 dias é uma entrega do workshop; não inclui encontros posteriores de acompanhamento.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Sequência de implantação: alinhamento, customização, encontro e aplicação pelos gerentes. A liderança recebe os instrumentos para acompanhar compromissos. Não há promessa de relatório de expansão ou de encontros adicionais, que pertenciam ao modelo de origem.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Fechamento da proposta. Reforçar que a especialização na carteira branca combina conhecimento do cooperado, relacionamento com seu entorno, pertinência comercial e execução consistente.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Aprofundamento do pilar 2, sem horas adicionais. Caso: a médica tem dez minutos entre consultas e a secretária já recebeu contatos repetitivos de instituições financeiras. O gerente precisa explicar relevância sem revelar saldos, crédito ou condições a terceiros. A secretária pode apoiar agenda e fluxos conforme autorização; não presumir poder de decisão ou acesso a dados. Debater como reduzir retrabalho, cumprir horários e manter a relação mesmo quando não houver agenda disponível.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Aprofundamento do pilar 3. Exercício em grupos: receber o mesmo produto e dois perfis distintos, construir perguntas e argumentos diferentes e justificar a adequação. Exemplo adicional: meios de pagamento para dentista com recebimentos parcelados versus médica com consultas particulares; investigar fluxo de recebimentos, custos e conciliação. A mudança está no diagnóstico e na apresentação de valor, não em inventar uma linha exclusiva ou prometer benefício inexistente. A análise pode concluir que aquele produto não é adequado naquele momento.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customização acontecerá após alinhamento prévio e acesso às informações autorizadas. Benefícios esperados: maior aderência, melhor transferência à rotina e consistência da experiência. Não garantir crescimento de receita como efeito isolado de um encontro. Seguimento facilitado depois do workshop, se desejado, requer escopo próprio.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731520" y="10058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500" kern="0" spc="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 WORKSHOP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766560" cy="10058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4500" b="1" dirty="0">
                <a:solidFill>
                  <a:srgbClr val="FFFFFF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Carteira Branca</a:t>
            </a:r>
            <a:endParaRPr lang="en-US" sz="5000" dirty="0">
              <a:latin typeface="Montserrat ExtraBold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31520" y="2514600"/>
            <a:ext cx="6217920" cy="82296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2600"/>
              </a:lnSpc>
              <a:buNone/>
            </a:pPr>
            <a:r>
              <a:rPr lang="en-US" sz="1800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Relacionamento que gera confiança e negócios</a:t>
            </a:r>
            <a:endParaRPr lang="en-US" sz="1800" dirty="0">
              <a:latin typeface="Montserrat Light" pitchFamily="2" charset="0"/>
            </a:endParaRPr>
          </a:p>
          <a:p>
            <a:pPr marL="0" indent="0">
              <a:lnSpc>
                <a:spcPts val="2600"/>
              </a:lnSpc>
              <a:buNone/>
            </a:pPr>
            <a:r>
              <a:rPr lang="en-US" sz="1800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Especialização comercial para o público da saúde</a:t>
            </a:r>
          </a:p>
        </p:txBody>
      </p:sp>
      <p:sp>
        <p:nvSpPr>
          <p:cNvPr id="9" name="Text 7"/>
          <p:cNvSpPr/>
          <p:nvPr/>
        </p:nvSpPr>
        <p:spPr>
          <a:xfrm>
            <a:off x="731520" y="3771342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Sicoob Unic  •  Gerentes de carteira e relacionamento</a:t>
            </a:r>
            <a:endParaRPr lang="en-US" sz="14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horas presenciais  •  4 pilares de desenvolvimento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4764024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32004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1"/>
                </a:solidFill>
                <a:latin typeface="Montserrat Light" pitchFamily="2" charset="0"/>
                <a:ea typeface="Georgia" pitchFamily="34" charset="-122"/>
                <a:cs typeface="Georgia" pitchFamily="34" charset="-120"/>
              </a:rPr>
              <a:t>O que entendemos da sua demanda</a:t>
            </a:r>
            <a:endParaRPr lang="en-US" sz="34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38862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777240" y="1536192"/>
            <a:ext cx="384048" cy="384048"/>
          </a:xfrm>
          <a:prstGeom prst="ellipse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77724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80160" y="148132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50000"/>
                  </a:schemeClr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Conhecer a carteira branca</a:t>
            </a:r>
            <a:endParaRPr lang="en-US" sz="1600" dirty="0">
              <a:solidFill>
                <a:schemeClr val="tx2">
                  <a:lumMod val="50000"/>
                </a:schemeClr>
              </a:solidFill>
              <a:latin typeface="Montserrat ExtraBold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80160" y="182880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Compreender médicos, dentistas e enfermeiros, seus momentos de carreira e suas necessidades.</a:t>
            </a:r>
            <a:endParaRPr lang="en-US" sz="1400" dirty="0">
              <a:solidFill>
                <a:schemeClr val="tx2">
                  <a:lumMod val="50000"/>
                </a:schemeClr>
              </a:solidFill>
              <a:latin typeface="Montserrat Ligh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709160" y="1280160"/>
            <a:ext cx="38862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4937760" y="1536192"/>
            <a:ext cx="384048" cy="384048"/>
          </a:xfrm>
          <a:prstGeom prst="ellipse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937760" y="1536192"/>
            <a:ext cx="384048" cy="384048"/>
          </a:xfrm>
          <a:prstGeom prst="rect">
            <a:avLst/>
          </a:prstGeom>
          <a:solidFill>
            <a:srgbClr val="00206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40680" y="148132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50000"/>
                  </a:schemeClr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Elevar o relacionamento</a:t>
            </a:r>
            <a:endParaRPr lang="en-US" sz="1600" dirty="0">
              <a:solidFill>
                <a:schemeClr val="tx2">
                  <a:lumMod val="50000"/>
                </a:schemeClr>
              </a:solidFill>
              <a:latin typeface="Montserrat ExtraBold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440680" y="182880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Postura, linguagem e diplomacia para atender alta renda e dialogar com secretárias e equipes.</a:t>
            </a:r>
            <a:endParaRPr lang="en-US" sz="1400" dirty="0">
              <a:solidFill>
                <a:schemeClr val="tx2">
                  <a:lumMod val="50000"/>
                </a:schemeClr>
              </a:solidFill>
              <a:latin typeface="Montserrat Ligh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48640" y="2971800"/>
            <a:ext cx="38862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777240" y="3227832"/>
            <a:ext cx="384048" cy="384048"/>
          </a:xfrm>
          <a:prstGeom prst="ellipse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77724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317296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50000"/>
                  </a:schemeClr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Gerar negócios relevantes</a:t>
            </a:r>
            <a:endParaRPr lang="en-US" sz="1600" dirty="0">
              <a:solidFill>
                <a:schemeClr val="tx2">
                  <a:lumMod val="50000"/>
                </a:schemeClr>
              </a:solidFill>
              <a:latin typeface="Montserrat ExtraBold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280160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Revisitar o portfólio e adaptar a abordagem ao contexto de cada profissional da saúde.</a:t>
            </a:r>
            <a:endParaRPr lang="en-US" sz="1400" dirty="0">
              <a:solidFill>
                <a:schemeClr val="tx2">
                  <a:lumMod val="50000"/>
                </a:schemeClr>
              </a:solidFill>
              <a:latin typeface="Montserrat Ligh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709160" y="2971800"/>
            <a:ext cx="38862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4937760" y="3227832"/>
            <a:ext cx="384048" cy="384048"/>
          </a:xfrm>
          <a:prstGeom prst="ellipse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493776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40680" y="317296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50000"/>
                  </a:schemeClr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Assumir a entrega</a:t>
            </a:r>
            <a:endParaRPr lang="en-US" sz="1600" dirty="0">
              <a:solidFill>
                <a:schemeClr val="tx2">
                  <a:lumMod val="50000"/>
                </a:schemeClr>
              </a:solidFill>
              <a:latin typeface="Montserrat ExtraBold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40680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Cumprir retornos, acompanhar demandas e transformar confiança em relacionamento contínuo.</a:t>
            </a:r>
            <a:endParaRPr lang="en-US" sz="1400" dirty="0">
              <a:solidFill>
                <a:schemeClr val="tx2">
                  <a:lumMod val="50000"/>
                </a:schemeClr>
              </a:solidFill>
              <a:latin typeface="Montserrat Ligh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02920" y="463835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300" i="1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Uma jornada aplicada à carteira real dos gerentes do Sicoob Unic.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548640" y="32004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FFFF"/>
                </a:solidFill>
                <a:latin typeface="Montserrat Light" pitchFamily="2" charset="0"/>
                <a:ea typeface="Georgia" pitchFamily="34" charset="-122"/>
                <a:cs typeface="Georgia" pitchFamily="34" charset="-120"/>
              </a:rPr>
              <a:t>Quem desenvolve o workshop</a:t>
            </a:r>
            <a:endParaRPr lang="en-US" sz="3400" dirty="0">
              <a:latin typeface="Montserrat Light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1430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Mais que treinamento e mentoria: experiência e sensibilidade para desenvolver talentos. Mais de 20 anos transformando pessoas — presentes nos principais sistemas cooperativos do país.</a:t>
            </a:r>
            <a:endParaRPr lang="en-US" sz="1500" dirty="0">
              <a:latin typeface="Montserrat Ligh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002060"/>
          </a:solidFill>
          <a:ln w="12700">
            <a:solidFill>
              <a:schemeClr val="accent5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+10 mil</a:t>
            </a:r>
            <a:endParaRPr lang="en-US" sz="30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0080" y="30175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profissionais treinados</a:t>
            </a:r>
            <a:endParaRPr lang="en-US" sz="1200" dirty="0">
              <a:latin typeface="Montserrat Ligh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578608" y="219456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002060"/>
          </a:solidFill>
          <a:ln w="12700">
            <a:solidFill>
              <a:schemeClr val="accent5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2578608" y="23317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+600</a:t>
            </a:r>
            <a:endParaRPr lang="en-US" sz="30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670048" y="30175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mentorias realizadas</a:t>
            </a:r>
            <a:endParaRPr lang="en-US" sz="1200" dirty="0">
              <a:latin typeface="Montserrat Ligh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08576" y="219456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002060"/>
          </a:solidFill>
          <a:ln w="12700">
            <a:solidFill>
              <a:schemeClr val="accent5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608576" y="23317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4,9</a:t>
            </a:r>
            <a:endParaRPr lang="en-US" sz="30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700016" y="30175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de avaliação</a:t>
            </a:r>
            <a:endParaRPr lang="en-US" sz="1200" dirty="0">
              <a:latin typeface="Montserrat Light" pitchFamily="2" charset="0"/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(escala de 0 a 5)</a:t>
            </a:r>
          </a:p>
        </p:txBody>
      </p:sp>
      <p:sp>
        <p:nvSpPr>
          <p:cNvPr id="16" name="Shape 14"/>
          <p:cNvSpPr/>
          <p:nvPr/>
        </p:nvSpPr>
        <p:spPr>
          <a:xfrm>
            <a:off x="6638544" y="219456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002060"/>
          </a:solidFill>
          <a:ln w="12700">
            <a:solidFill>
              <a:schemeClr val="accent5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6638544" y="23317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92%</a:t>
            </a:r>
            <a:endParaRPr lang="en-US" sz="30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729984" y="30175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de recontratação</a:t>
            </a:r>
            <a:endParaRPr lang="en-US" sz="1200" dirty="0">
              <a:latin typeface="Montserrat Ligh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37947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Programas customizados de soft e hard skills, mentorias individuais e em grupo, projetos de universidade corporativa — presencial, online ou híbrido.</a:t>
            </a:r>
            <a:endParaRPr lang="en-US" sz="1300" dirty="0">
              <a:latin typeface="Montserrat Light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548640" y="32004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>
              <a:buNone/>
            </a:pPr>
            <a:r>
              <a:rPr lang="en-US" sz="29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Expertise em cooperativismo</a:t>
            </a:r>
            <a:endParaRPr lang="en-US" sz="34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4864" cy="73152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777240" y="13075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Montserrat Light" pitchFamily="2" charset="0"/>
                <a:ea typeface="Georgia" pitchFamily="34" charset="-122"/>
                <a:cs typeface="Georgia" pitchFamily="34" charset="-120"/>
              </a:rPr>
              <a:t>Visão de negócio da cooperativa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77240" y="1627632"/>
            <a:ext cx="7818120" cy="5029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3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Experiência em cooperativas de crédito, conectando relacionamento, gestão de carteira, negociação e qualidade dos negócios.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54864" cy="73152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777240" y="2203481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Montserrat Light" pitchFamily="2" charset="0"/>
                <a:ea typeface="Georgia" pitchFamily="34" charset="-122"/>
                <a:cs typeface="Georgia" pitchFamily="34" charset="-120"/>
              </a:rPr>
              <a:t>Comunicação que constrói confiança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77240" y="2450592"/>
            <a:ext cx="7818120" cy="5029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3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Postura, linguagem e diplomacia aplicadas às conversas com o cooperado e com as pessoas que participam de sua rotina.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54864" cy="73152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777240" y="304495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Montserrat Light" pitchFamily="2" charset="0"/>
                <a:ea typeface="Georgia" pitchFamily="34" charset="-122"/>
                <a:cs typeface="Georgia" pitchFamily="34" charset="-120"/>
              </a:rPr>
              <a:t>Integração entre comportamento e resultado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7240" y="3319272"/>
            <a:ext cx="7818120" cy="5029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3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O preparo do gerente se traduz em diagnóstico, proposta de valor, acompanhamento e cumprimento dos combinados.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54864" cy="73152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777240" y="391363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Montserrat Light" pitchFamily="2" charset="0"/>
                <a:ea typeface="Georgia" pitchFamily="34" charset="-122"/>
                <a:cs typeface="Georgia" pitchFamily="34" charset="-120"/>
              </a:rPr>
              <a:t>Conteúdo construído para o Sicoob Unic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4187952"/>
            <a:ext cx="7818120" cy="5029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3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Casos, abordagens e ferramentas ajustados ao perfil da carteira branca, ao portfólio e aos processos da cooperativa.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548640" y="32004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As sócias da Mentorei</a:t>
            </a:r>
            <a:endParaRPr lang="en-US" sz="3400" dirty="0">
              <a:latin typeface="Montserrat ExtraBold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2514600" cy="3154680"/>
          </a:xfrm>
          <a:prstGeom prst="roundRect">
            <a:avLst>
              <a:gd name="adj" fmla="val 2909"/>
            </a:avLst>
          </a:prstGeom>
          <a:solidFill>
            <a:srgbClr val="002060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1581912" y="1417320"/>
            <a:ext cx="457200" cy="457200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85800" y="196596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Claudia Kreniczki</a:t>
            </a:r>
            <a:endParaRPr lang="en-US" sz="1500" dirty="0">
              <a:latin typeface="Montserrat ExtraBold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685800" y="228600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Gente, cultura e liderança</a:t>
            </a:r>
            <a:endParaRPr lang="en-US" sz="1150" b="1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31520" y="2578608"/>
            <a:ext cx="21488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Executivo pela Fundação Dom Cabral e mais de 24 anos em Recursos Humanos, com posições de liderança executiva em grandes corporações do mercado financeiro. Premiada por conduzir transformações reais em times e organizações. Especialista em criar experiências de aprendizagem que engajam e mobilizam.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1234440"/>
            <a:ext cx="2514600" cy="3154680"/>
          </a:xfrm>
          <a:prstGeom prst="roundRect">
            <a:avLst>
              <a:gd name="adj" fmla="val 2909"/>
            </a:avLst>
          </a:prstGeom>
          <a:solidFill>
            <a:srgbClr val="002060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4325112" y="1417320"/>
            <a:ext cx="457200" cy="457200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3429000" y="196596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Juliana Foresti</a:t>
            </a:r>
            <a:endParaRPr lang="en-US" sz="1500" dirty="0">
              <a:latin typeface="Montserrat ExtraBold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429000" y="228600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Negócios, comunicação e imagem</a:t>
            </a:r>
            <a:endParaRPr lang="en-US" sz="1150" b="1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474720" y="2619756"/>
            <a:ext cx="21488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Trajetória reconhecida na expansão de grandes redes no Brasil e nos Estados Unidos. Professora de Comunicação e Negociação no Instituto de Economia da Unicamp. Provoca reflexões profundas e incentiva a ação, com presença que inspira resultados.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1234440"/>
            <a:ext cx="2514600" cy="3154680"/>
          </a:xfrm>
          <a:prstGeom prst="roundRect">
            <a:avLst>
              <a:gd name="adj" fmla="val 2909"/>
            </a:avLst>
          </a:prstGeom>
          <a:solidFill>
            <a:srgbClr val="002060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7068312" y="1417320"/>
            <a:ext cx="457200" cy="457200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172200" y="196596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Viviane Sotoriva</a:t>
            </a:r>
            <a:endParaRPr lang="en-US" sz="1500" dirty="0">
              <a:latin typeface="Montserrat ExtraBold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172200" y="228600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Finanças e cooperativismo</a:t>
            </a:r>
            <a:endParaRPr lang="en-US" sz="1150" b="1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217920" y="2578608"/>
            <a:ext cx="21488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2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 em Gestão Financeira pela FGV e mestre em Gestão de Cooperativas pela PUC-PR, com imersões na América do Sul e Europa. Mais de 20 anos em cooperativas de crédito, com visão global do mercado cooperativista.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4507992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100" i="1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Experiência complementar em pessoas, negócios e cooperativismo. Condução a definir.</a:t>
            </a:r>
            <a:endParaRPr lang="en-US" sz="1200" dirty="0">
              <a:latin typeface="Montserrat Light" pitchFamily="2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548640" y="32004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O workshop em quatro pilares</a:t>
            </a:r>
            <a:endParaRPr lang="en-US" sz="34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002060"/>
          </a:solidFill>
          <a:ln w="12700">
            <a:solidFill>
              <a:schemeClr val="accent5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85800" y="12344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280160" y="12344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Cooperado e carteira</a:t>
            </a:r>
            <a:endParaRPr lang="en-US" sz="14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611880" y="12344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Conhecer para ser relevante  •  Manhã / 2h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48640" y="1901952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0D4C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685800" y="190195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>
              <a:solidFill>
                <a:srgbClr val="002060"/>
              </a:solidFill>
              <a:latin typeface="Montserrat ExtraBold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280160" y="19019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2060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Postura e linguagem</a:t>
            </a:r>
            <a:endParaRPr lang="en-US" sz="1400" dirty="0">
              <a:solidFill>
                <a:srgbClr val="002060"/>
              </a:solidFill>
              <a:latin typeface="Montserrat ExtraBold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611880" y="19019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Construir confiança em cada interação  •  Manhã / 2h</a:t>
            </a:r>
            <a:endParaRPr lang="en-US" sz="1300" dirty="0">
              <a:solidFill>
                <a:schemeClr val="tx1">
                  <a:lumMod val="95000"/>
                  <a:lumOff val="5000"/>
                </a:schemeClr>
              </a:solidFill>
              <a:latin typeface="Montserrat Ligh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2569464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002060"/>
          </a:solidFill>
          <a:ln w="12700">
            <a:solidFill>
              <a:schemeClr val="accent5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85800" y="256946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280160" y="256946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Venda consultiva</a:t>
            </a:r>
            <a:endParaRPr lang="en-US" sz="14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611880" y="256946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Conectar necessidades e soluções  •  Tarde / 2h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48640" y="3236976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0D4C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685800" y="323697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>
              <a:solidFill>
                <a:srgbClr val="002060"/>
              </a:solidFill>
              <a:latin typeface="Montserrat ExtraBold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280160" y="323697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2060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Accountability</a:t>
            </a:r>
            <a:endParaRPr lang="en-US" sz="1400" dirty="0">
              <a:solidFill>
                <a:srgbClr val="002060"/>
              </a:solidFill>
              <a:latin typeface="Montserrat ExtraBold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657600" y="3217796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Transformar combinados em entregas  •  Tarde / 2h</a:t>
            </a:r>
            <a:endParaRPr lang="en-US" sz="1300" dirty="0">
              <a:solidFill>
                <a:schemeClr val="tx1">
                  <a:lumMod val="95000"/>
                  <a:lumOff val="5000"/>
                </a:schemeClr>
              </a:solidFill>
              <a:latin typeface="Montserrat Ligh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57200" y="4609691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8 horas efetivas de conteúdo. Almoço e intervalos adicionais. Data e local a definir.</a:t>
            </a:r>
            <a:endParaRPr lang="en-US" sz="1200" dirty="0">
              <a:solidFill>
                <a:schemeClr val="bg1"/>
              </a:solidFill>
              <a:latin typeface="Montserrat Light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548640" y="2743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0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371600" y="320040"/>
            <a:ext cx="7223760" cy="4114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Leitura do cooperado e da carteira</a:t>
            </a:r>
            <a:endParaRPr lang="en-US" sz="27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417320" y="749808"/>
            <a:ext cx="717804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 i="1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Conhecer a rotina para identificar o que faz sentido.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320040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12700">
            <a:solidFill>
              <a:srgbClr val="E0D4C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731520" y="137160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latin typeface="Montserrat ExtraBold" pitchFamily="2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050" dirty="0">
              <a:latin typeface="Montserrat ExtraBold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31520" y="1627632"/>
            <a:ext cx="2880360" cy="6858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280" dirty="0">
                <a:ea typeface="Calibri" pitchFamily="34" charset="-122"/>
                <a:cs typeface="Calibri" pitchFamily="34" charset="-120"/>
              </a:rPr>
              <a:t>Compreender o contexto dos profissionais da saúde e priorizar oportunidades de relacionamento na carteira.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514600"/>
            <a:ext cx="3200400" cy="1234440"/>
          </a:xfrm>
          <a:prstGeom prst="roundRect">
            <a:avLst>
              <a:gd name="adj" fmla="val 5926"/>
            </a:avLst>
          </a:prstGeom>
          <a:solidFill>
            <a:schemeClr val="bg1"/>
          </a:solidFill>
          <a:ln w="12700">
            <a:solidFill>
              <a:srgbClr val="E0D4C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731520" y="265176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latin typeface="Montserrat ExtraBold" pitchFamily="2" charset="0"/>
                <a:ea typeface="Calibri" pitchFamily="34" charset="-122"/>
                <a:cs typeface="Calibri" pitchFamily="34" charset="-120"/>
              </a:rPr>
              <a:t>ENTREGA PRÁTICA</a:t>
            </a:r>
            <a:endParaRPr lang="en-US" sz="1050" dirty="0">
              <a:latin typeface="Montserrat ExtraBold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31520" y="2907792"/>
            <a:ext cx="2880360" cy="749808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250" dirty="0">
                <a:ea typeface="Calibri" pitchFamily="34" charset="-122"/>
                <a:cs typeface="Calibri" pitchFamily="34" charset="-120"/>
              </a:rPr>
              <a:t>Análise de até cinco cooperados e escolha de três prioridades, com perguntas e próximos contatos.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8862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Manhã  •  2 horas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4069080" y="128016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bg1"/>
                </a:solidFill>
                <a:latin typeface="Montserrat ExtraBold" pitchFamily="2" charset="0"/>
                <a:ea typeface="Calibri" pitchFamily="34" charset="-122"/>
                <a:cs typeface="Calibri" pitchFamily="34" charset="-120"/>
              </a:rPr>
              <a:t>TÓPICOS ABORDADOS</a:t>
            </a:r>
            <a:endParaRPr lang="en-US" sz="11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069080" y="168249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343400" y="158191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Médicos, dentistas e enfermeiros: vínculos, fontes de receita e momentos de carreira.</a:t>
            </a:r>
            <a:endParaRPr lang="en-US" sz="125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069080" y="223113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4343400" y="217627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Plantões, consultório e clínica: necessidades da pessoa, da família e do negócio.</a:t>
            </a:r>
            <a:endParaRPr lang="en-US" sz="125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069080" y="277977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4343400" y="267919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Renda, patrimônio, liquidez e projetos: perguntas antes de propor soluções.</a:t>
            </a:r>
            <a:endParaRPr lang="en-US" sz="125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069080" y="332841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4343400" y="322783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Ecossistema do cooperado: secretária, gestor da clínica, sócios e contador.</a:t>
            </a:r>
            <a:endParaRPr lang="en-US" sz="125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069080" y="387705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4343400" y="377647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Análise individual da carteira: potencial, lacunas de informação e prioridades.</a:t>
            </a:r>
            <a:endParaRPr lang="en-US" sz="1250" dirty="0">
              <a:solidFill>
                <a:schemeClr val="bg1"/>
              </a:solidFill>
              <a:latin typeface="Montserrat Light" pitchFamily="2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548640" y="2743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0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371600" y="320040"/>
            <a:ext cx="7223760" cy="4114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Postura, diplomacia e linguagem</a:t>
            </a:r>
            <a:endParaRPr lang="en-US" sz="2700" dirty="0">
              <a:latin typeface="Montserrat ExtraBold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417320" y="749808"/>
            <a:ext cx="717804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 i="1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Construir confiança com o cooperado e sua equipe.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320040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12700">
            <a:solidFill>
              <a:srgbClr val="A2676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731520" y="137160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latin typeface="Montserrat ExtraBold" pitchFamily="2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050" dirty="0">
              <a:latin typeface="Montserrat ExtraBold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0080" y="1606891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28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Desenvolver presença profissional e comunicação adequada à alta renda, com clareza, respeito e segurança.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514600"/>
            <a:ext cx="3200400" cy="1234440"/>
          </a:xfrm>
          <a:prstGeom prst="roundRect">
            <a:avLst>
              <a:gd name="adj" fmla="val 5926"/>
            </a:avLst>
          </a:prstGeom>
          <a:solidFill>
            <a:schemeClr val="bg1"/>
          </a:solidFill>
          <a:ln w="12700">
            <a:solidFill>
              <a:srgbClr val="A2676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731520" y="265176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latin typeface="Montserrat ExtraBold" pitchFamily="2" charset="0"/>
                <a:ea typeface="Calibri" pitchFamily="34" charset="-122"/>
                <a:cs typeface="Calibri" pitchFamily="34" charset="-120"/>
              </a:rPr>
              <a:t>ENTREGA PRÁTICA</a:t>
            </a:r>
            <a:endParaRPr lang="en-US" sz="1050" dirty="0">
              <a:latin typeface="Montserrat ExtraBold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0080" y="2907792"/>
            <a:ext cx="3017520" cy="749808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Revisão de mensagens, simulação com secretária e cooperado e dois compromissos de postura.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8862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Manhã  •  2 horas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4069080" y="128016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bg1"/>
                </a:solidFill>
                <a:latin typeface="Montserrat ExtraBold" pitchFamily="2" charset="0"/>
                <a:ea typeface="Calibri" pitchFamily="34" charset="-122"/>
                <a:cs typeface="Calibri" pitchFamily="34" charset="-120"/>
              </a:rPr>
              <a:t>TÓPICOS ABORDADOS</a:t>
            </a:r>
            <a:endParaRPr lang="en-US" sz="11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069080" y="168249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343400" y="158191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Preparo, pontualidade, discrição e escuta: a marca pessoal construída na rotina.</a:t>
            </a:r>
            <a:endParaRPr lang="en-US" sz="1250" dirty="0">
              <a:latin typeface="Montserrat Ligh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069080" y="223113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4343400" y="213055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WhatsApp, telefone e reunião: propósito claro, objetividade e próximo passo.</a:t>
            </a:r>
            <a:endParaRPr lang="en-US" sz="1250" dirty="0">
              <a:latin typeface="Montserrat Ligh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069080" y="277977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4343400" y="267919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Diplomacia em cobranças, reclamações, negativas e comparação com concorrentes.</a:t>
            </a:r>
            <a:endParaRPr lang="en-US" sz="1250" dirty="0">
              <a:latin typeface="Montserrat Ligh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069080" y="332841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4343400" y="322783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Secretária como relação estratégica: agenda, confiança e continuidade do contato.</a:t>
            </a:r>
            <a:endParaRPr lang="en-US" sz="1250" dirty="0">
              <a:latin typeface="Montserrat Ligh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069080" y="387705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4343400" y="377647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Revisão individual da postura e simulações com observação e devolutiva.</a:t>
            </a:r>
            <a:endParaRPr lang="en-US" sz="1250" dirty="0">
              <a:latin typeface="Montserrat Light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548640" y="2743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0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371600" y="320040"/>
            <a:ext cx="7223760" cy="4114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Venda consultiva e soluções</a:t>
            </a:r>
            <a:endParaRPr lang="en-US" sz="27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417320" y="749808"/>
            <a:ext cx="717804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 i="1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O mesmo produto, uma conversa adequada à saúde.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320040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12700">
            <a:solidFill>
              <a:srgbClr val="E0D4C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731520" y="137160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latin typeface="Montserrat ExtraBold" pitchFamily="2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050" dirty="0">
              <a:latin typeface="Montserrat ExtraBold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31520" y="1627632"/>
            <a:ext cx="2880360" cy="6858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280" dirty="0">
                <a:solidFill>
                  <a:srgbClr val="3A1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Revisitar o portfólio e construir propostas ligadas à rotina, às prioridades e à capacidade financeira do cooperado.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514600"/>
            <a:ext cx="3200400" cy="1234440"/>
          </a:xfrm>
          <a:prstGeom prst="roundRect">
            <a:avLst>
              <a:gd name="adj" fmla="val 5926"/>
            </a:avLst>
          </a:prstGeom>
          <a:solidFill>
            <a:schemeClr val="bg1"/>
          </a:solidFill>
          <a:ln w="12700">
            <a:solidFill>
              <a:srgbClr val="E0D4C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731520" y="265176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latin typeface="Montserrat ExtraBold" pitchFamily="2" charset="0"/>
                <a:ea typeface="Calibri" pitchFamily="34" charset="-122"/>
                <a:cs typeface="Calibri" pitchFamily="34" charset="-120"/>
              </a:rPr>
              <a:t>ENTREGA PRÁTICA</a:t>
            </a:r>
            <a:endParaRPr lang="en-US" sz="1050" dirty="0">
              <a:latin typeface="Montserrat ExtraBold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31520" y="2907792"/>
            <a:ext cx="2880360" cy="749808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250" dirty="0">
                <a:solidFill>
                  <a:srgbClr val="3A1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 de argumentação: necessidade, pergunta, benefício, solução a avaliar e próximo passo.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8862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Tarde  •  2 horas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4069080" y="128016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bg1"/>
                </a:solidFill>
                <a:latin typeface="Montserrat ExtraBold" pitchFamily="2" charset="0"/>
                <a:ea typeface="Calibri" pitchFamily="34" charset="-122"/>
                <a:cs typeface="Calibri" pitchFamily="34" charset="-120"/>
              </a:rPr>
              <a:t>TÓPICOS ABORDADOS</a:t>
            </a:r>
            <a:endParaRPr lang="en-US" sz="11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069080" y="168249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343400" y="158191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Investimentos e previdência: reserva, patrimônio e redução futura de plantões.</a:t>
            </a:r>
            <a:endParaRPr lang="en-US" sz="125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069080" y="223113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4343400" y="213055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Seguros: proteção da renda, da família e da continuidade profissional.</a:t>
            </a:r>
            <a:endParaRPr lang="en-US" sz="125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069080" y="277977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4343400" y="267919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Crédito e consórcio: consultório, equipamentos e projetos, conforme prazo e perfil.</a:t>
            </a:r>
            <a:endParaRPr lang="en-US" sz="125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069080" y="332841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4343400" y="322783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Soluções PF/PJ: recebimentos, cobrança, cartões e organização do caixa.</a:t>
            </a:r>
            <a:endParaRPr lang="en-US" sz="125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069080" y="387705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4343400" y="377647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Reapresentar o mesmo produto, tratar objeções e avançar sem pressão indevida.</a:t>
            </a:r>
            <a:endParaRPr lang="en-US" sz="1250" dirty="0">
              <a:solidFill>
                <a:schemeClr val="bg1"/>
              </a:solidFill>
              <a:latin typeface="Montserrat Light" pitchFamily="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548640" y="2743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0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371600" y="320040"/>
            <a:ext cx="7223760" cy="4114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Accountability e relacionamento</a:t>
            </a:r>
            <a:endParaRPr lang="en-US" sz="2700" dirty="0">
              <a:latin typeface="Montserrat ExtraBold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417320" y="749808"/>
            <a:ext cx="717804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 i="1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A confiança continua depois da conversa.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320040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12700">
            <a:solidFill>
              <a:srgbClr val="A2676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731520" y="137160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latin typeface="Montserrat ExtraBold" pitchFamily="2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050" dirty="0">
              <a:latin typeface="Montserrat ExtraBold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31520" y="1627632"/>
            <a:ext cx="2880360" cy="6858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28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Assumir a condução das demandas, combinar prazos viáveis e acompanhar cada oportunidade até o próximo passo.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514600"/>
            <a:ext cx="3200400" cy="1234440"/>
          </a:xfrm>
          <a:prstGeom prst="roundRect">
            <a:avLst>
              <a:gd name="adj" fmla="val 5926"/>
            </a:avLst>
          </a:prstGeom>
          <a:solidFill>
            <a:schemeClr val="bg1"/>
          </a:solidFill>
          <a:ln w="12700">
            <a:solidFill>
              <a:srgbClr val="A26769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731520" y="265176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latin typeface="Montserrat ExtraBold" pitchFamily="2" charset="0"/>
                <a:ea typeface="Calibri" pitchFamily="34" charset="-122"/>
                <a:cs typeface="Calibri" pitchFamily="34" charset="-120"/>
              </a:rPr>
              <a:t>ENTREGA PRÁTICA</a:t>
            </a:r>
            <a:endParaRPr lang="en-US" sz="1050" dirty="0">
              <a:latin typeface="Montserrat ExtraBold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31520" y="2907792"/>
            <a:ext cx="2880360" cy="749808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400"/>
              </a:lnSpc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Plano individual de 30 dias com três cooperados prioritários, ações, prazos e evidências de avanço.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69080" y="128016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bg1"/>
                </a:solidFill>
                <a:latin typeface="Montserrat ExtraBold" pitchFamily="2" charset="0"/>
                <a:ea typeface="Calibri" pitchFamily="34" charset="-122"/>
                <a:cs typeface="Calibri" pitchFamily="34" charset="-120"/>
              </a:rPr>
              <a:t>TÓPICOS ABORDADOS</a:t>
            </a:r>
            <a:endParaRPr lang="en-US" sz="11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069080" y="168249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343400" y="158191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Timing: confirmar recebimento, atualizar andamento e entregar a solução.</a:t>
            </a:r>
            <a:endParaRPr lang="en-US" sz="1250" dirty="0">
              <a:latin typeface="Montserrat Ligh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069080" y="223113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4343400" y="213055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Retorno proativo: informar antes da cobrança e renegociar prazos quando necessário.</a:t>
            </a:r>
            <a:endParaRPr lang="en-US" sz="1250" dirty="0">
              <a:latin typeface="Montserrat Ligh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069080" y="277977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4343400" y="267919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Áreas internas e continuidade: encaminhar, registrar e acompanhar a conclusão.</a:t>
            </a:r>
            <a:endParaRPr lang="en-US" sz="1250" dirty="0">
              <a:latin typeface="Montserrat Ligh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069080" y="332841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4343400" y="322783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Agenda comercial e acompanhamento de propostas com próximos passos definidos.</a:t>
            </a:r>
            <a:endParaRPr lang="en-US" sz="1250" dirty="0">
              <a:latin typeface="Montserrat Ligh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069080" y="3877056"/>
            <a:ext cx="146304" cy="146304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4343400" y="377647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70" dirty="0">
                <a:solidFill>
                  <a:srgbClr val="ECE2D0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Caso “A proposta chegou tarde” e plano individual de aplicação na carteira.</a:t>
            </a:r>
            <a:endParaRPr lang="en-US" sz="1250" dirty="0">
              <a:latin typeface="Montserrat Light" pitchFamily="2" charset="0"/>
            </a:endParaRPr>
          </a:p>
        </p:txBody>
      </p:sp>
      <p:sp>
        <p:nvSpPr>
          <p:cNvPr id="3" name="Text 12">
            <a:extLst>
              <a:ext uri="{FF2B5EF4-FFF2-40B4-BE49-F238E27FC236}">
                <a16:creationId xmlns:a16="http://schemas.microsoft.com/office/drawing/2014/main" id="{ACFD4BF9-B45A-41DA-1FF3-F70A22CB85B4}"/>
              </a:ext>
            </a:extLst>
          </p:cNvPr>
          <p:cNvSpPr/>
          <p:nvPr/>
        </p:nvSpPr>
        <p:spPr>
          <a:xfrm>
            <a:off x="548640" y="38862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Tarde  •  2 horas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548640" y="32004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>
              <a:buNone/>
            </a:pPr>
            <a:r>
              <a:rPr lang="en-US" sz="29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Uma experiência dinâmica e aplicada</a:t>
            </a:r>
            <a:endParaRPr lang="en-US" sz="34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4864" cy="73152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777240" y="13075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Montserrat Light" pitchFamily="2" charset="0"/>
                <a:ea typeface="Georgia" pitchFamily="34" charset="-122"/>
                <a:cs typeface="Georgia" pitchFamily="34" charset="-120"/>
              </a:rPr>
              <a:t>Casos da carteira branca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77240" y="1627632"/>
            <a:ext cx="7818120" cy="5029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3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Médica entre plantões e consultório; dentista planejando expansão; enfermeira gestora organizando patrimônio e futuro.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54864" cy="73152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777240" y="2203481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Montserrat Light" pitchFamily="2" charset="0"/>
                <a:ea typeface="Georgia" pitchFamily="34" charset="-122"/>
                <a:cs typeface="Georgia" pitchFamily="34" charset="-120"/>
              </a:rPr>
              <a:t>Simulações e discussão em grupo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77240" y="2450592"/>
            <a:ext cx="7818120" cy="5029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3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Conversas com secretária e cooperado, revisão de mensagens, objeções e propostas de valor, com critérios de observação.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54864" cy="73152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777240" y="304495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Montserrat Light" pitchFamily="2" charset="0"/>
                <a:ea typeface="Georgia" pitchFamily="34" charset="-122"/>
                <a:cs typeface="Georgia" pitchFamily="34" charset="-120"/>
              </a:rPr>
              <a:t>Momentos individuais de análise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7240" y="3319272"/>
            <a:ext cx="7818120" cy="5029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3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Leitura da própria carteira, revisão da postura e identificação de comportamentos e oportunidades que precisam de atenção.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54864" cy="73152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777240" y="391363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Montserrat Light" pitchFamily="2" charset="0"/>
                <a:ea typeface="Georgia" pitchFamily="34" charset="-122"/>
                <a:cs typeface="Georgia" pitchFamily="34" charset="-120"/>
              </a:rPr>
              <a:t>Ferramentas para o dia seguinte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4187952"/>
            <a:ext cx="7818120" cy="5029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3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Mapa de carteira, roteiro de diagnóstico, guia de linguagem, matriz de soluções e plano de aplicação de 30 dias.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548640" y="32004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Organização da jornada</a:t>
            </a:r>
            <a:endParaRPr lang="en-US" sz="34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300" i="1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Um dia presencial  •  8 horas efetivas  •  Data e local a definir</a:t>
            </a:r>
            <a:endParaRPr lang="en-US" sz="125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8046720" cy="41148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85800" y="1463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691640" y="1463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DURAÇÃO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743200" y="1463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931920" y="1463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1874520"/>
            <a:ext cx="8046720" cy="50292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685800" y="18745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Manhã</a:t>
            </a:r>
            <a:endParaRPr lang="en-US" sz="1400" dirty="0">
              <a:latin typeface="Montserrat ExtraBold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691640" y="18745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2h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743200" y="1874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931920" y="18745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Leitura do cooperado e da carteira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2377440"/>
            <a:ext cx="804672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85800" y="237744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Manhã</a:t>
            </a:r>
            <a:endParaRPr lang="en-US" sz="1400" dirty="0">
              <a:latin typeface="Montserrat ExtraBold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691640" y="237744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2h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743200" y="23774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931920" y="23774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Postura, diplomacia e linguagem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2880360"/>
            <a:ext cx="8046720" cy="50292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685800" y="288036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Tarde</a:t>
            </a:r>
            <a:endParaRPr lang="en-US" sz="1400" dirty="0">
              <a:latin typeface="Montserrat ExtraBold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691640" y="28803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2h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743200" y="28803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931920" y="28803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Venda consultiva e soluções financeiras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48640" y="3383280"/>
            <a:ext cx="804672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685800" y="3383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Tarde</a:t>
            </a:r>
            <a:endParaRPr lang="en-US" sz="1400" dirty="0">
              <a:latin typeface="Montserrat ExtraBold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691640" y="3383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2h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743200" y="33832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931920" y="33832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e gestão do relacionamento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Almoço e intervalos adicionais à carga de conteúdo. Horários a alinhar com a cooperativa.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548640" y="32004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Investimento</a:t>
            </a:r>
            <a:endParaRPr lang="en-US" sz="3400" dirty="0">
              <a:latin typeface="Montserrat ExtraBold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86200" cy="1920240"/>
          </a:xfrm>
          <a:prstGeom prst="roundRect">
            <a:avLst>
              <a:gd name="adj" fmla="val 4762"/>
            </a:avLst>
          </a:prstGeom>
          <a:solidFill>
            <a:srgbClr val="002060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777240" y="162763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Workshop personalizado</a:t>
            </a:r>
            <a:endParaRPr lang="en-US" sz="18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40" y="20116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A definir</a:t>
            </a:r>
            <a:endParaRPr lang="en-US" sz="16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77240" y="260604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8 horas presenciais para os gerentes de carteira e de relacionamento do Sicoob Unic.</a:t>
            </a:r>
            <a:endParaRPr lang="en-US" sz="12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709160" y="1463040"/>
            <a:ext cx="3886200" cy="1920240"/>
          </a:xfrm>
          <a:prstGeom prst="roundRect">
            <a:avLst>
              <a:gd name="adj" fmla="val 4762"/>
            </a:avLst>
          </a:prstGeom>
          <a:solidFill>
            <a:srgbClr val="002060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937760" y="162763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Escopo contemplado</a:t>
            </a:r>
            <a:endParaRPr lang="en-US" sz="18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937760" y="20116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  <a:latin typeface="Montserrat ExtraBold" pitchFamily="2" charset="0"/>
              </a:rPr>
              <a:t>Conteúdo + prática</a:t>
            </a:r>
            <a:endParaRPr lang="en-US" sz="16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937760" y="260604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Preparação, alinhamento prévio, condução e ferramentas digitais para aplicação na carteira.</a:t>
            </a:r>
            <a:endParaRPr lang="en-US" sz="12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Incluso: customização dos conteúdos, casos, apresentação, material digital e plano individual de 30 dias.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3950208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Logística, materiais impressos, despesas de viagem e condições de pagamento a definir na proposta comercial.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548640" y="32004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Próximos passos</a:t>
            </a:r>
            <a:endParaRPr lang="en-US" sz="34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1234440" y="1554480"/>
            <a:ext cx="457200" cy="457200"/>
          </a:xfrm>
          <a:prstGeom prst="ellipse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12344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12140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Alinhamento</a:t>
            </a:r>
            <a:endParaRPr lang="en-US" sz="1400" dirty="0">
              <a:latin typeface="Montserrat ExtraBold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85800" y="2450592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300" dirty="0">
                <a:solidFill>
                  <a:srgbClr val="3A1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público, objetivos, formato, data e condições comerciais.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78608" y="137160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3264408" y="1554480"/>
            <a:ext cx="457200" cy="457200"/>
          </a:xfrm>
          <a:prstGeom prst="ellipse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326440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670048" y="212140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Customização</a:t>
            </a:r>
            <a:endParaRPr lang="en-US" sz="1400" dirty="0">
              <a:latin typeface="Montserrat ExtraBold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715768" y="2450592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300" dirty="0">
                <a:solidFill>
                  <a:srgbClr val="3A1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 carteira, o portfólio e os casos do Sicoob Unic.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08576" y="137160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5294376" y="1554480"/>
            <a:ext cx="457200" cy="457200"/>
          </a:xfrm>
          <a:prstGeom prst="ellipse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5294376" y="1554480"/>
            <a:ext cx="457200" cy="457200"/>
          </a:xfrm>
          <a:prstGeom prst="rect">
            <a:avLst/>
          </a:prstGeom>
          <a:solidFill>
            <a:srgbClr val="00206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00016" y="212140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Execução</a:t>
            </a:r>
            <a:endParaRPr lang="en-US" sz="1400" dirty="0">
              <a:latin typeface="Montserrat ExtraBold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45736" y="2450592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300" dirty="0">
                <a:solidFill>
                  <a:srgbClr val="3A1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o workshop com análise, discussão e prática.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638544" y="137160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7324344" y="1554480"/>
            <a:ext cx="457200" cy="457200"/>
          </a:xfrm>
          <a:prstGeom prst="ellipse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7324344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729984" y="212140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Aplicação</a:t>
            </a:r>
            <a:endParaRPr lang="en-US" sz="1400" dirty="0">
              <a:latin typeface="Montserrat ExtraBold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775704" y="2450592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300" dirty="0">
                <a:solidFill>
                  <a:srgbClr val="3A1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 o plano de 30 dias, com acompanhamento da liderança.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4023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contato@mentorei.com.br  •  www.mentorei.com.br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88720" y="1554480"/>
            <a:ext cx="7275056" cy="11887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“Conhecer a rotina. Construir confiança.</a:t>
            </a:r>
            <a:endParaRPr lang="en-US" sz="3000" dirty="0">
              <a:latin typeface="Montserrat ExtraBold" pitchFamily="2" charset="0"/>
            </a:endParaRPr>
          </a:p>
          <a:p>
            <a:pPr marL="0" indent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Entregar soluções que fazem sentido.”</a:t>
            </a:r>
          </a:p>
        </p:txBody>
      </p:sp>
      <p:sp>
        <p:nvSpPr>
          <p:cNvPr id="5" name="Shape 3"/>
          <p:cNvSpPr/>
          <p:nvPr/>
        </p:nvSpPr>
        <p:spPr>
          <a:xfrm>
            <a:off x="3385510" y="3248350"/>
            <a:ext cx="2011680" cy="27432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 3"/>
          <p:cNvSpPr/>
          <p:nvPr/>
        </p:nvSpPr>
        <p:spPr>
          <a:xfrm>
            <a:off x="548640" y="32004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>
              <a:buNone/>
            </a:pPr>
            <a:r>
              <a:rPr lang="en-US" sz="29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Secretárias: relacionamento estratégico</a:t>
            </a:r>
            <a:endParaRPr lang="en-US" sz="34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4864" cy="73152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777240" y="13075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Montserrat Light" pitchFamily="2" charset="0"/>
                <a:ea typeface="Georgia" pitchFamily="34" charset="-122"/>
                <a:cs typeface="Georgia" pitchFamily="34" charset="-120"/>
              </a:rPr>
              <a:t>Reconhecer o papel de quem organiza a rotina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77240" y="1627632"/>
            <a:ext cx="7818120" cy="5029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3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A secretária conhece o fluxo do consultório e os melhores momentos de contato. Construir uma relação cordial e consistente.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54864" cy="73152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777240" y="2203481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Montserrat Light" pitchFamily="2" charset="0"/>
                <a:ea typeface="Georgia" pitchFamily="34" charset="-122"/>
                <a:cs typeface="Georgia" pitchFamily="34" charset="-120"/>
              </a:rPr>
              <a:t>Facilitar a agenda e tornar o contato relevante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77240" y="2450592"/>
            <a:ext cx="7818120" cy="5029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3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Apresentar-se, explicar o motivo do contato com discrição e combinar canal, duração e horário, sem interromper atendimentos.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54864" cy="73152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777240" y="304495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Montserrat Light" pitchFamily="2" charset="0"/>
                <a:ea typeface="Georgia" pitchFamily="34" charset="-122"/>
                <a:cs typeface="Georgia" pitchFamily="34" charset="-120"/>
              </a:rPr>
              <a:t>Respeitar papéis e autorizações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7240" y="3319272"/>
            <a:ext cx="7818120" cy="5029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3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Distinguir apoio à agenda, acesso a documentos e decisão financeira. Confirmar quem pode receber informações e tratar cada assunto.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54864" cy="73152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777240" y="391363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Montserrat Light" pitchFamily="2" charset="0"/>
                <a:ea typeface="Georgia" pitchFamily="34" charset="-122"/>
                <a:cs typeface="Georgia" pitchFamily="34" charset="-120"/>
              </a:rPr>
              <a:t>Praticar uma abordagem que abre diálogo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4187952"/>
            <a:ext cx="7818120" cy="5029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3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“Bom dia, Ana. Sou Juliana, do Sicoob Unic. Qual é o melhor canal para agendar uma conversa breve com a Dra. Renata?”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 3"/>
          <p:cNvSpPr/>
          <p:nvPr/>
        </p:nvSpPr>
        <p:spPr>
          <a:xfrm>
            <a:off x="548640" y="32004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>
              <a:buNone/>
            </a:pPr>
            <a:r>
              <a:rPr lang="en-US" sz="2900" b="1" dirty="0">
                <a:solidFill>
                  <a:schemeClr val="bg1"/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Revisitar produtos. Mudar a conversa.</a:t>
            </a:r>
            <a:endParaRPr lang="en-US" sz="3400" dirty="0">
              <a:solidFill>
                <a:schemeClr val="bg1"/>
              </a:solidFill>
              <a:latin typeface="Montserrat ExtraBold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4864" cy="73152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777240" y="13075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Montserrat Light" pitchFamily="2" charset="0"/>
                <a:ea typeface="Georgia" pitchFamily="34" charset="-122"/>
                <a:cs typeface="Georgia" pitchFamily="34" charset="-120"/>
              </a:rPr>
              <a:t>Investimentos: receita recebida, dinheiro com destino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77240" y="1627632"/>
            <a:ext cx="7818120" cy="5029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3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Investigar compromissos, reserva e projetos. Para quem recebe de fontes diferentes, discutir liquidez e organização dos recursos.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54864" cy="73152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777240" y="2203481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Montserrat Light" pitchFamily="2" charset="0"/>
                <a:ea typeface="Georgia" pitchFamily="34" charset="-122"/>
                <a:cs typeface="Georgia" pitchFamily="34" charset="-120"/>
              </a:rPr>
              <a:t>Seguro: a renda depende da presença no trabalho?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77240" y="2450592"/>
            <a:ext cx="7818120" cy="5029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3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Entender o impacto de um afastamento na família e no consultório. Avaliar proteção compatível, coberturas e condições.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54864" cy="73152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777240" y="304495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Montserrat Light" pitchFamily="2" charset="0"/>
                <a:ea typeface="Georgia" pitchFamily="34" charset="-122"/>
                <a:cs typeface="Georgia" pitchFamily="34" charset="-120"/>
              </a:rPr>
              <a:t>Crédito: o equipamento cabe no projeto e no caixa?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7240" y="3319272"/>
            <a:ext cx="7818120" cy="5029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3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Explorar finalidade, prazo, receita esperada e capacidade de pagamento. Explicar o custo total e comparar alternativas adequadas.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54864" cy="73152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777240" y="391363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Montserrat Light" pitchFamily="2" charset="0"/>
                <a:ea typeface="Georgia" pitchFamily="34" charset="-122"/>
                <a:cs typeface="Georgia" pitchFamily="34" charset="-120"/>
              </a:rPr>
              <a:t>Previdência: como preparar a redução dos plantões?</a:t>
            </a:r>
            <a:endParaRPr lang="en-US" sz="15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4187952"/>
            <a:ext cx="7818120" cy="5029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30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Conectar a conversa ao ritmo de trabalho desejado, ao horizonte e à renda futura. Avaliar contribuições e condições do plano.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1"/>
          <p:cNvSpPr/>
          <p:nvPr/>
        </p:nvSpPr>
        <p:spPr>
          <a:xfrm>
            <a:off x="548640" y="4764024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32004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chemeClr val="bg1"/>
                </a:solidFill>
                <a:latin typeface="Montserrat Light" pitchFamily="2" charset="0"/>
                <a:ea typeface="Georgia" pitchFamily="34" charset="-122"/>
                <a:cs typeface="Georgia" pitchFamily="34" charset="-120"/>
              </a:rPr>
              <a:t>Personalização que faz diferença</a:t>
            </a:r>
            <a:endParaRPr lang="en-US" sz="34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38862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777240" y="1536192"/>
            <a:ext cx="384048" cy="384048"/>
          </a:xfrm>
          <a:prstGeom prst="ellipse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77724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80160" y="148132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50000"/>
                  </a:schemeClr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Realidade do Sicoob Unic</a:t>
            </a:r>
            <a:endParaRPr lang="en-US" sz="1600" dirty="0">
              <a:solidFill>
                <a:schemeClr val="tx2">
                  <a:lumMod val="50000"/>
                </a:schemeClr>
              </a:solidFill>
              <a:latin typeface="Montserrat ExtraBold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80160" y="182880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Briefing com a liderança para conhecer carteira, desafios, experiência do grupo e objetivos comerciais.</a:t>
            </a:r>
            <a:endParaRPr lang="en-US" sz="1400" dirty="0">
              <a:solidFill>
                <a:schemeClr val="tx2">
                  <a:lumMod val="50000"/>
                </a:schemeClr>
              </a:solidFill>
              <a:latin typeface="Montserrat Ligh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709160" y="1280160"/>
            <a:ext cx="38862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4937760" y="1536192"/>
            <a:ext cx="384048" cy="384048"/>
          </a:xfrm>
          <a:prstGeom prst="ellipse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937760" y="1536192"/>
            <a:ext cx="384048" cy="384048"/>
          </a:xfrm>
          <a:prstGeom prst="rect">
            <a:avLst/>
          </a:prstGeom>
          <a:solidFill>
            <a:srgbClr val="00206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40680" y="148132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50000"/>
                  </a:schemeClr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Portfólio aplicado</a:t>
            </a:r>
            <a:endParaRPr lang="en-US" sz="1600" dirty="0">
              <a:solidFill>
                <a:schemeClr val="tx2">
                  <a:lumMod val="50000"/>
                </a:schemeClr>
              </a:solidFill>
              <a:latin typeface="Montserrat ExtraBold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440680" y="182880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Produtos disponíveis transformados em conversas relevantes para os profissionais da saúde.</a:t>
            </a:r>
            <a:endParaRPr lang="en-US" sz="1400" dirty="0">
              <a:solidFill>
                <a:schemeClr val="tx2">
                  <a:lumMod val="50000"/>
                </a:schemeClr>
              </a:solidFill>
              <a:latin typeface="Montserrat Ligh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48640" y="2971800"/>
            <a:ext cx="38862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777240" y="3227832"/>
            <a:ext cx="384048" cy="384048"/>
          </a:xfrm>
          <a:prstGeom prst="ellipse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77724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317296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50000"/>
                  </a:schemeClr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Casos da cooperativa</a:t>
            </a:r>
            <a:endParaRPr lang="en-US" sz="1600" dirty="0">
              <a:solidFill>
                <a:schemeClr val="tx2">
                  <a:lumMod val="50000"/>
                </a:schemeClr>
              </a:solidFill>
              <a:latin typeface="Montserrat ExtraBold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280160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Situações de atendimento, secretárias, objeções e demandas recorrentes da cooperativa.</a:t>
            </a:r>
            <a:endParaRPr lang="en-US" sz="1400" dirty="0">
              <a:solidFill>
                <a:schemeClr val="tx2">
                  <a:lumMod val="50000"/>
                </a:schemeClr>
              </a:solidFill>
              <a:latin typeface="Montserrat Ligh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709160" y="2971800"/>
            <a:ext cx="38862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4937760" y="3227832"/>
            <a:ext cx="384048" cy="384048"/>
          </a:xfrm>
          <a:prstGeom prst="ellipse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493776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40680" y="317296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tx2">
                    <a:lumMod val="50000"/>
                  </a:schemeClr>
                </a:solidFill>
                <a:latin typeface="Montserrat ExtraBold" pitchFamily="2" charset="0"/>
                <a:ea typeface="Georgia" pitchFamily="34" charset="-122"/>
                <a:cs typeface="Georgia" pitchFamily="34" charset="-120"/>
              </a:rPr>
              <a:t>Aplicação e continuidade</a:t>
            </a:r>
            <a:endParaRPr lang="en-US" sz="1600" dirty="0">
              <a:solidFill>
                <a:schemeClr val="tx2">
                  <a:lumMod val="50000"/>
                </a:schemeClr>
              </a:solidFill>
              <a:latin typeface="Montserrat ExtraBold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40680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lnSpc>
                <a:spcPts val="1600"/>
              </a:lnSpc>
              <a:buNone/>
            </a:pPr>
            <a:r>
              <a:rPr lang="en-US" sz="1400" dirty="0">
                <a:solidFill>
                  <a:schemeClr val="tx2">
                    <a:lumMod val="50000"/>
                  </a:schemeClr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Ações sobre a carteira real e instrumentos para a liderança acompanhar os compromissos.</a:t>
            </a:r>
            <a:endParaRPr lang="en-US" sz="1400" dirty="0">
              <a:solidFill>
                <a:schemeClr val="tx2">
                  <a:lumMod val="50000"/>
                </a:schemeClr>
              </a:solidFill>
              <a:latin typeface="Montserrat Ligh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02920" y="463835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300" i="1" dirty="0">
                <a:solidFill>
                  <a:schemeClr val="bg1"/>
                </a:solidFill>
                <a:latin typeface="Montserrat Light" pitchFamily="2" charset="0"/>
                <a:ea typeface="Calibri" pitchFamily="34" charset="-122"/>
                <a:cs typeface="Calibri" pitchFamily="34" charset="-120"/>
              </a:rPr>
              <a:t>A personalização orienta o conteúdo, os exercícios e as entregas do workshop.</a:t>
            </a:r>
            <a:endParaRPr lang="en-US" sz="1300" dirty="0">
              <a:solidFill>
                <a:schemeClr val="bg1"/>
              </a:solidFill>
              <a:latin typeface="Montserrat Light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1340</Words>
  <Application>Microsoft Office PowerPoint</Application>
  <PresentationFormat>Apresentação na tela (16:9)</PresentationFormat>
  <Paragraphs>206</Paragraphs>
  <Slides>15</Slides>
  <Notes>15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1" baseType="lpstr">
      <vt:lpstr>Aptos</vt:lpstr>
      <vt:lpstr>Arial</vt:lpstr>
      <vt:lpstr>Calibri</vt:lpstr>
      <vt:lpstr>Montserrat ExtraBold</vt:lpstr>
      <vt:lpstr>Montserrat Light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Carteira Branca | Proposta de Workshop | Sicoob Unic</dc:title>
  <dc:subject>Relacionamento, postura e venda consultiva para profissionais da saúde</dc:subject>
  <dc:creator>Mentorei</dc:creator>
  <cp:lastModifiedBy>Cintia Cristina - Administrativo Mentorei</cp:lastModifiedBy>
  <cp:revision>3</cp:revision>
  <dcterms:created xsi:type="dcterms:W3CDTF">2026-08-18T20:14:55Z</dcterms:created>
  <dcterms:modified xsi:type="dcterms:W3CDTF">2026-08-20T21:09:00Z</dcterms:modified>
</cp:coreProperties>
</file>